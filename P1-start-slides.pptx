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a2638f11-240d-9eb9-d160-04f0205767ac}">
          <p14:sldIdLst>
            <p14:sldId id="256"/>
            <p14:sldId id="257"/>
            <p14:sldId id="258"/>
            <p14:sldId id="259"/>
          </p14:sldIdLst>
        </p14:section>
        <p14:section name="Терминал: шаги 1–7" id="{c5c6e329-310f-e963-16d4-78906ca1d36e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Kibana: шаг 8 и проверка" id="{2d55ddb3-1a17-ee99-6340-c9fcace8eb07}">
          <p14:sldIdLst>
            <p14:sldId id="269"/>
            <p14:sldId id="270"/>
            <p14:sldId id="271"/>
          </p14:sldIdLst>
        </p14:section>
        <p14:section name="Если что-то не так" id="{3ec1f9ae-28f9-d131-f20f-1df57435583b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первой части занятия — у каждого слушателя на компьютере работает учебная SIEM: Elasticsearch хранит журналы, Kibana их показывает.
Как вести: я показываю каждый шаг на проекторе, слушатели повторяют у себя. Не переходим к следующему шагу, пока у всех не совпало «Должно получиться».
Раздаточный файл P1-start.pdf — те же команды целиком, их удобно копировать оттуда (или из deploy.md в репозитории), а не перепечатывать со слайда.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сказать: SIEM — это хранилище событий плюс интерфейс к нему. Мы соберём учебную из двух программ.
Elasticsearch — «склад»: принимает события, хранит, быстро ищет. Управляется не мышкой, а запросами по адресу localhost:9200 — их мы шлём программой curl из терминала.
Kibana — «витрина»: веб-страница, через которую смотрим события, строим графики и правила. Открывается в браузере по адресу localhost:5601.
Docker — запускает каждую программу в своём контейнере (изолированной «коробке»), чтобы не ставить их в систему вручную. Какие контейнеры и с какими настройками — написано в docker-compose.yml.
Перед началом спросить: у всех ли установлен Docker и хватает ли памяти (6 ГБ свободных).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— для тех, кто редко работает в терминале. Пройти по строкам.
Главная ошибка новичков — копируют многострочную команду не целиком. Обратный слэш \ в конце строки значит «команда не закончилась». Копировать от первой строки до строки без \.
$ELASTIC_PASSWORD — это не текст, который нужно заменить руками: терминал сам подставит пароль, если перед этим выполнили source .env (шаг 1).
curl — «браузер для командной строки»: отправляет запрос и печатает ответ. У Elasticsearch нет своих кнопок — настраиваем его запросами.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общий план. Шаги 1–7 — в терминале, шаг 8 — в браузере, в Kibana.
Порядок важен: Kibana не стартует без пароля служебной учётки (шаг 3); журналы без шаблонов (шаг 5) лягут с неправильными типами полей.
Ритм: я выполняю шаг, все повторяют, поднимают руку, если результат не совпал. Типичные ошибки — на слайдах «Если что-то не так» в конце.
Время: при первом запуске Docker скачивает два образа по ≈1,6 ГБ — на шагах 2 и 4 будет пауза в несколько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Выполнять по одной строке.
git clone — скачивает с GitHub всё, что нужно для практики: настройки контейнеров, журналы, шаблоны.
cd — заходим в скачанную папку. Если открыли новое окно терминала — снова зайти в папку.
cp .env.example .env — делаем свою копию образца. В .env будут пароли, в репозиторий он не попадает.
openssl rand -hex 16 — генератор случайной строки. Её выделить и скопировать: вставим в .env как ENCRYPTION_KEY.
nano .env — что вписать, на следующем слайде.
source .env — терминал читает файл и запоминает пароли. Потом в командах будет $ELASTIC_PASSWORD — терминал сам подставит значение. Новое окно терминала этого не помнит — повторить source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на экране, как выглядит заполненный .env. Пароли на слайде — пример, каждый придумывает свои.
Почему два пароля: elastic — «администратор», под ним входим мы. kibana_system — служебная учётка с минимальными правами, под ней Kibana сама ходит в Elasticsearch. Так принято: программе не дают пароль администратора.
ENCRYPTION_KEY — без него не работают правила обнаружения (они понадобятся в части 4).
Пароль короче 6 символов — Elasticsearch его не примет на шаге 3. Кавычки и пробелы ломают команды.
ELASTIC_PASSWORD запоминается при первом запуске Elasticsearch; если потом поменять в .env — пароль перестанет подходить, придётся начинать заново.
nano: Ctrl+O — записать файл, Enter — подтвердить имя, Ctrl+X — выйти. Не забыть потом source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читает docker-compose.yml и управляет описанными там контейнерами.
up — запустить; -d — в фоне, терминал остаётся свободным; elasticsearch — только этот контейнер, Kibana запустим позже (ей сначала нужен пароль, шаг 3).
docker compose ps — список контейнеров. Нужен статус (healthy): это значит Elasticsearch не просто запущен, а уже отвечает. Повторять команду раз в 15–20 секунд.
curl -u "elastic:$ELASTIC_PASSWORD" — запрос с логином и паролем (-u = логин:пароль). localhost:9200 — адрес Elasticsearch на этом компьютере.
Ответ — JSON с информацией о сервере; ищем "number" : "9.4.8" — это версия. Раз ответил с паролем — хранилище работает и пускает по паролю.
Если 401 — не выполнен source .env в этом окне.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Зачем: Kibana не входит под администратором elastic — это небезопасно. У неё своя служебная учётка kibana_system с минимальными правами. Учётка в Elasticsearch уже есть, но без пароля. Задаём ей тот пароль, который вписали в .env как KIBANA_PASSWORD — Kibana возьмёт его оттуда при запуске.
Разбор команды:
curl -u "elastic:…" — запрос от имени elastic (менять пароль может только администратор).
-H 'Content-Type: application/json' — заголовок: «посылаю данные в формате JSON».
-X POST — тип запроса POST: «выполни действие с моими данными».
localhost:9200/_security/user/kibana_system/_password — адрес читается как путь: безопасность → пользователь kibana_system → пароль.
-d "…" — сами данные: {"password":"ваш пароль"}. \" — кавычка внутри кавычек.
Копировать все три строки разом (обратные слэши в конце строк).
Ошибка «passwords must be at least [6] characters long» — пароль короткий: удлинить в .env, source .env, повторить.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 -d без имени — запускает всё из docker-compose.yml. Elasticsearch уже работает, Docker его не перезапускает, а только добавляет Kibana.
При первом запуске снова скачивается образ ≈1,6 ГБ — пауза.
Kibana настроена ждать, пока Elasticsearch станет healthy, и входит в него под kibana_system с паролем из шага 3.
В браузере: http://localhost:5601. Логин elastic (не kibana_system!), пароль — ELASTIC_PASSWORD.
«Kibana server is not ready yet» в первые минуты — нормально. Если больше 5 минут — скорее всего не прошёл шаг 3: повторить шаг 3, затем docker compose restart kibana.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Зачем: Elasticsearch хранит события в индексах — как таблицы в базе данных. Если заранее не сказать, какого типа поле, Elasticsearch угадает сам, и IP-адрес станет просто текстом — тогда нельзя искать «все адреса из подсети».
Шаблон — правило «для всех индексов, чьё имя начинается на raw-/norm-, поля будут таких типов». Индексы появятся позже (шаг 6) и сразу получат нужные типы.
Разбор: -X PUT — «создай или замени объект по этому адресу». localhost:9200/_index_template/raw — объект: шаблон индексов с именем raw.
-d @setup/raw-template.json — данные взять из файла (@ = «из файла»). Файл в репозитории, его можно открыть и посмотреть.
Остальное — как в шаге 3. Вторая команда — то же для шаблона norm.
Обе команды можно вставить разом — все 4 строки.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Зачем: в папке data три журнала клиники за неделю. Загружаем каждый в свой индекс: raw-auth — входы, raw-web — веб-портал, raw-system — серверы.
Bulk API — массовая загрузка: вместо 50 тысяч отдельных запросов — по одному на журнал. В файлах строки идут парами: служебная {"index":{}} («добавь в индекс») и само событие.
Разбор:
for j in auth web system; do … done — повторить команду три раза, вместо $j подставится auth, web, system.
-s — не показывать полосу загрузки. -H 'Content-Type: application/x-ndjson' — данные в формате NDJSON: по одному JSON в строке.
-X POST "localhost:9200/raw-$j/_bulk" — загрузка в индекс raw-…; индекс создастся сам, по шаблону raw из шага 5.
?refresh=true — сразу сделать события доступными для поиска.
--data-binary @data/raw-$j.ndjson — данные из файла журнала, байт в байт.
| grep -o … — ответ огромный (строка на каждое событие); grep оставляет только "errors":false или true.
Копировать все 5 строк разом. "errors":true — не выполнен шаг 5 или журналы грузят второй раз — начать заново.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Проверка, что загрузилось всё. _cat — «кошачьи» команды Elasticsearch: отвечают не JSON, а таблицей, удобной для чтения глазами.
Ответ — таблица из двух столбцов: index и docs.count. Ожидаем: raw-auth 20000, raw-system 15000, raw-web 15000 — всего 50 000 событий.
Если чисел меньше — загрузка прервалась; если больше (40000, 30000) — журналы загрузили дважды: docker compose down -v и начать с шага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Зачем: в трёх журналах одно и то же называется по-разному (source_ip, from_ip, client…). Стандарт ECS даёт единые имена полей — тогда один запрос ищет по всем журналам сразу.
Конвейер (ingest pipeline) — цепочка шагов, через которую проходит каждое событие: переименовать поля по ECS, привести время. Для веб-журнала конвейер готов — это образец. Конвейеры для двух других журналов слушатели соберут сами во второй части практики.
Первая команда: -X PUT …/_ingest/pipeline/norm-web — создать конвейер с именем norm-web; шаги — из файла pipelines/norm-web.json (его можно открыть и посмотреть).
Вторая: -X POST …/_reindex — переложить события из одного индекса в другой. source — откуда: raw-web; dest — куда: новый индекс norm-web, по дороге — через конвейер norm-web.
Сырой журнал raw-web остаётся как был — рядом появляется нормализованная копия.
Ожидаем "created":15000 (все события веб-журнала) и пустой список "failures":[].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в браузер, Kibana уже открыта после шага 4.
Что такое представление данных: Kibana сама не знает, какие индексы показывать. Data View — «окно» на один или несколько индексов: какие индексы и по какому полю времени фильтровать.
Как найти раздел: в строке поиска вверху Kibana набрать Data Views. Дальше Create data view → заполнить Name, Index pattern, Timestamp field → Save data view to Kibana. Повторить пять раз.
Про время: обычно новичкам приходится настраивать часовой пояс и период вручную. У нас это заранее прописано в kibana/kibana.yml — объяснить зачем: журналы в UTC и за неделю 10–16 марта 2025. Без этого Kibana покажет «последние 15 минут» — и пустой экран.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представлений: одно на все сырые журналы, по одному на каждый сырой журнал, и одно на нормализованные.
Name — любое понятное название, его увидим в списке Discover. Чтобы у всех было одинаково — вводить как в таблице.
Index pattern — какие индексы взять; звёздочка — «любые символы»: raw-* = raw-auth + raw-web + raw-system.
Timestamp field: у сырых журналов поле времени ещё не приведено к дате (это сделает нормализация), поэтому выбираем «I don't want to use the time filter» — показывать все события без фильтра по датам.
У нормализованных — @timestamp: конвейер привёл время к стандартному полю ECS, теперь работает фильтр по датам и графики по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проверка стенда. Открыть Discover (через строку поиска). Слева вверху — список Data view; по умолчанию там All logs, оно пустое — это не ошибка, просто не наше представление.
Выбрать «Сырые журналы (raw-*)» — над списком событий число 50,000 (Kibana пишет тысячи через запятую).
Выбрать «Нормализованные журналы (norm-*)» — 15,000: пока нормализован только веб-журнал. Остальные два слушатели нормализуют сами во второй части.
Если у norm-* 0 событий — проверить период справа вверху: 10–16 марта 2025.
У всех совпало — стенд готов, переходим к части 1 практики (журналы как источники).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два слайда держать под рукой — показывать, когда у кого-то ошибка, а не зачитывать подряд.
Самые частые на практике: 401 (открыли новое окно терминала и забыли source .env) и Connection reset by peer (поторопились, Elasticsearch ещё стартует).
docker.sock: пользователя нужно добавить в группу docker; без перезахода в систему не подействует.
port is already allocated: на компьютере уже работает другой Elasticsearch/Kibana, например с прошлого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вместо JSON: в сети организации прокси перехватывает запрос к localhost — отключить переменные прокси в этом терминале.
Elasticsearch не становится healthy: чаще всего не хватает памяти — free -h; в журнале контейнера будет причина.
Kibana долго not ready: почти всегда — не задан или неверный пароль kibana_system (шаг 3).
"errors":true: шаблоны не загружены (шаг 5) или загрузка повторная — начать заново (следующий слайд).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жить со стендом между занятиями.
docker compose stop — остановить, освободить память; журналы и настройки Kibana сохранятся.
docker compose start — запустить снова. Не забыть source .env в новом терминале.
docker compose down -v — «сбросить всё»: удаляет контейнеры и, из-за -v, данные. Нужен, если что-то сломалось безнадёжно (журналы загружены дважды, пароль ELASTIC_PASSWORD поменяли). После него — с шага 2; файл .env и скачанные образы остаются, поэтому второй раз быстрее.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Убедиться, что у всех в Discover совпали числа. Тем, у кого не получилось, помочь по слайдам ошибок, остальным — переходить к Части 1 из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749040"/>
            <a:ext cx="112772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П1 · Развёртывание учебной SIEM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П1 · Развёртывание учебной SIEM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Практика 1. Развёртывание учебной SIEM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74904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Шаг за шагом: от пустого компьютера до журналов в Kibana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собираем</a:t>
            </a:r>
            <a:endParaRPr lang="en-US" sz="3600" dirty="0"/>
          </a:p>
        </p:txBody>
      </p:sp>
      <p:sp>
        <p:nvSpPr>
          <p:cNvPr id="3" name="Слушатель circle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Слушатель icon" descr="Слушател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1177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Вы</a:t>
            </a:r>
            <a:endParaRPr lang="en-US" sz="1600" dirty="0"/>
          </a:p>
        </p:txBody>
      </p:sp>
      <p:sp>
        <p:nvSpPr>
          <p:cNvPr id="6" name="Kibana box"/>
          <p:cNvSpPr/>
          <p:nvPr/>
        </p:nvSpPr>
        <p:spPr>
          <a:xfrm>
            <a:off x="2743200" y="1600200"/>
            <a:ext cx="3291840" cy="1463040"/>
          </a:xfrm>
          <a:prstGeom prst="roundRect">
            <a:avLst>
              <a:gd name="adj" fmla="val 6250"/>
            </a:avLst>
          </a:prstGeom>
          <a:solidFill>
            <a:schemeClr val="accent3"/>
          </a:solidFill>
          <a:ln/>
        </p:spPr>
      </p:sp>
      <p:sp>
        <p:nvSpPr>
          <p:cNvPr id="7" name="Kibana"/>
          <p:cNvSpPr txBox="1"/>
          <p:nvPr/>
        </p:nvSpPr>
        <p:spPr>
          <a:xfrm>
            <a:off x="2834640" y="1600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Kibana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веб-интерфейс: поиск, графики, правила</a:t>
            </a:r>
            <a:endParaRPr lang="en-US" sz="17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http://localhost:5601</a:t>
            </a:r>
            <a:endParaRPr lang="en-US" sz="1700" dirty="0"/>
          </a:p>
        </p:txBody>
      </p:sp>
      <p:sp>
        <p:nvSpPr>
          <p:cNvPr id="8" name="Elasticsearch box"/>
          <p:cNvSpPr/>
          <p:nvPr/>
        </p:nvSpPr>
        <p:spPr>
          <a:xfrm>
            <a:off x="7680960" y="160020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9" name="Elasticsearch"/>
          <p:cNvSpPr txBox="1"/>
          <p:nvPr/>
        </p:nvSpPr>
        <p:spPr>
          <a:xfrm>
            <a:off x="7772400" y="16002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Elasticsearch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хранит события и ищет по ним</a:t>
            </a:r>
            <a:endParaRPr lang="en-US" sz="17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localhost:9200</a:t>
            </a:r>
            <a:endParaRPr lang="en-US" sz="1700" dirty="0"/>
          </a:p>
        </p:txBody>
      </p:sp>
      <p:sp>
        <p:nvSpPr>
          <p:cNvPr id="10" name="arrow you-kibana"/>
          <p:cNvSpPr/>
          <p:nvPr/>
        </p:nvSpPr>
        <p:spPr>
          <a:xfrm>
            <a:off x="1874520" y="2331720"/>
            <a:ext cx="8229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arrow kibana-es"/>
          <p:cNvSpPr/>
          <p:nvPr/>
        </p:nvSpPr>
        <p:spPr>
          <a:xfrm>
            <a:off x="6080760" y="2331720"/>
            <a:ext cx="155448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17373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браузер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запросы к данным</a:t>
            </a:r>
            <a:endParaRPr lang="en-US" sz="1300" dirty="0"/>
          </a:p>
        </p:txBody>
      </p:sp>
      <p:sp>
        <p:nvSpPr>
          <p:cNvPr id="14" name="Терминал circle"/>
          <p:cNvSpPr/>
          <p:nvPr/>
        </p:nvSpPr>
        <p:spPr>
          <a:xfrm>
            <a:off x="822960" y="3749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Терминал icon" descr="Термина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" y="3946550"/>
            <a:ext cx="427939" cy="42793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4617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Терминал</a:t>
            </a:r>
            <a:endParaRPr lang="en-US" sz="1600" dirty="0"/>
          </a:p>
        </p:txBody>
      </p:sp>
      <p:sp>
        <p:nvSpPr>
          <p:cNvPr id="17" name="terminal line"/>
          <p:cNvSpPr/>
          <p:nvPr/>
        </p:nvSpPr>
        <p:spPr>
          <a:xfrm>
            <a:off x="1874520" y="4160520"/>
            <a:ext cx="78181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8" name="arrow terminal-es"/>
          <p:cNvSpPr/>
          <p:nvPr/>
        </p:nvSpPr>
        <p:spPr>
          <a:xfrm>
            <a:off x="9692640" y="4160520"/>
            <a:ext cx="0" cy="-105156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210312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— команды настройки и загрузки журналов (шаги 1–7)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10972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Каждая программа — в своём контейнере Docker. Что из чего состоит, описано в docker-compose.yml.</a:t>
            </a:r>
            <a:endParaRPr lang="en-US" sz="1500" dirty="0"/>
          </a:p>
        </p:txBody>
      </p:sp>
      <p:sp>
        <p:nvSpPr>
          <p:cNvPr id="21" name="req box"/>
          <p:cNvSpPr/>
          <p:nvPr/>
        </p:nvSpPr>
        <p:spPr>
          <a:xfrm>
            <a:off x="457200" y="5257800"/>
            <a:ext cx="1127729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2" name="requirements"/>
          <p:cNvSpPr txBox="1"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Нужно: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Linux (или macOS, Windows + WSL 2) · Docker с Compose ·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 ГБ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свободной памяти ·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8 ГБ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на диске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читать команды</a:t>
            </a:r>
            <a:endParaRPr lang="en-US" sz="3600" dirty="0"/>
          </a:p>
        </p:txBody>
      </p:sp>
      <p:sp>
        <p:nvSpPr>
          <p:cNvPr id="3" name="Терминал circle"/>
          <p:cNvSpPr/>
          <p:nvPr/>
        </p:nvSpPr>
        <p:spPr>
          <a:xfrm>
            <a:off x="457200" y="1417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Терминал icon" descr="Термина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8191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417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Терминал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417320"/>
            <a:ext cx="6979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Команду вводят или вставляют в терминал и нажимают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Enter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 Все команды — в папке репозитория</a:t>
            </a:r>
            <a:endParaRPr lang="en-US" sz="1800" dirty="0"/>
          </a:p>
        </p:txBody>
      </p:sp>
      <p:sp>
        <p:nvSpPr>
          <p:cNvPr id="7" name="\ в конце строки circle"/>
          <p:cNvSpPr/>
          <p:nvPr/>
        </p:nvSpPr>
        <p:spPr>
          <a:xfrm>
            <a:off x="457200" y="23774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\ в конце строки icon" descr="\ в конце строк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420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377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 в конце строки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2377440"/>
            <a:ext cx="6979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Команда продолжается на следующей строке. Копировать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целиком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, до строки без \</a:t>
            </a:r>
            <a:endParaRPr lang="en-US" sz="1800" dirty="0"/>
          </a:p>
        </p:txBody>
      </p:sp>
      <p:sp>
        <p:nvSpPr>
          <p:cNvPr id="11" name="# текст circle"/>
          <p:cNvSpPr/>
          <p:nvPr/>
        </p:nvSpPr>
        <p:spPr>
          <a:xfrm>
            <a:off x="457200" y="33375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# текст icon" descr="# текс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0215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337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текст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3337560"/>
            <a:ext cx="6979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Комментарий для человека. Терминал его не выполняет</a:t>
            </a:r>
            <a:endParaRPr lang="en-US" sz="1800" dirty="0"/>
          </a:p>
        </p:txBody>
      </p:sp>
      <p:sp>
        <p:nvSpPr>
          <p:cNvPr id="15" name="$ELASTIC_PASSWORD circle"/>
          <p:cNvSpPr/>
          <p:nvPr/>
        </p:nvSpPr>
        <p:spPr>
          <a:xfrm>
            <a:off x="457200" y="4297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$ELASTIC_PASSWORD icon" descr="$ELASTIC_PASSWO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6227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297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$ELASTIC_PASSWORD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4754880" y="4297680"/>
            <a:ext cx="6979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Подставить значение переменной — здесь ваш пароль из файла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800" dirty="0"/>
          </a:p>
        </p:txBody>
      </p:sp>
      <p:sp>
        <p:nvSpPr>
          <p:cNvPr id="19" name="curl circle"/>
          <p:cNvSpPr/>
          <p:nvPr/>
        </p:nvSpPr>
        <p:spPr>
          <a:xfrm>
            <a:off x="457200" y="5257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url icon" descr="cur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42239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5257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5257800"/>
            <a:ext cx="6979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Отправляет запрос по адресу и печатает ответ. Так управляют Elasticsearch: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localhost:9200/…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План: 8 шагов</a:t>
            </a:r>
            <a:endParaRPr lang="en-US" sz="3600" dirty="0"/>
          </a:p>
        </p:txBody>
      </p:sp>
      <p:sp>
        <p:nvSpPr>
          <p:cNvPr id="3" name="plan 1 box"/>
          <p:cNvSpPr/>
          <p:nvPr/>
        </p:nvSpPr>
        <p:spPr>
          <a:xfrm>
            <a:off x="457200" y="141732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plan 1 num bg"/>
          <p:cNvSpPr/>
          <p:nvPr/>
        </p:nvSpPr>
        <p:spPr>
          <a:xfrm>
            <a:off x="640080" y="15727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17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Скачать практику и задать пароли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терминал</a:t>
            </a:r>
            <a:endParaRPr lang="en-US" sz="1900" dirty="0"/>
          </a:p>
        </p:txBody>
      </p:sp>
      <p:sp>
        <p:nvSpPr>
          <p:cNvPr id="7" name="plan 2 box"/>
          <p:cNvSpPr/>
          <p:nvPr/>
        </p:nvSpPr>
        <p:spPr>
          <a:xfrm>
            <a:off x="457200" y="251460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plan 2 num bg"/>
          <p:cNvSpPr/>
          <p:nvPr/>
        </p:nvSpPr>
        <p:spPr>
          <a:xfrm>
            <a:off x="640080" y="2670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14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Запустить Elasticsearch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терминал</a:t>
            </a:r>
            <a:endParaRPr lang="en-US" sz="1900" dirty="0"/>
          </a:p>
        </p:txBody>
      </p:sp>
      <p:sp>
        <p:nvSpPr>
          <p:cNvPr id="11" name="plan 3 box"/>
          <p:cNvSpPr/>
          <p:nvPr/>
        </p:nvSpPr>
        <p:spPr>
          <a:xfrm>
            <a:off x="457200" y="361188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2" name="plan 3 num bg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118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Задать пароль учётке kibana_system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терминал</a:t>
            </a:r>
            <a:endParaRPr lang="en-US" sz="1900" dirty="0"/>
          </a:p>
        </p:txBody>
      </p:sp>
      <p:sp>
        <p:nvSpPr>
          <p:cNvPr id="15" name="plan 4 box"/>
          <p:cNvSpPr/>
          <p:nvPr/>
        </p:nvSpPr>
        <p:spPr>
          <a:xfrm>
            <a:off x="457200" y="470916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6" name="plan 4 num bg"/>
          <p:cNvSpPr/>
          <p:nvPr/>
        </p:nvSpPr>
        <p:spPr>
          <a:xfrm>
            <a:off x="640080" y="486460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64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Запустить Kibana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терминал</a:t>
            </a:r>
            <a:endParaRPr lang="en-US" sz="1900" dirty="0"/>
          </a:p>
        </p:txBody>
      </p:sp>
      <p:sp>
        <p:nvSpPr>
          <p:cNvPr id="19" name="plan 5 box"/>
          <p:cNvSpPr/>
          <p:nvPr/>
        </p:nvSpPr>
        <p:spPr>
          <a:xfrm>
            <a:off x="6217920" y="141732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0" name="plan 5 num bg"/>
          <p:cNvSpPr/>
          <p:nvPr/>
        </p:nvSpPr>
        <p:spPr>
          <a:xfrm>
            <a:off x="6400800" y="15727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417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Загрузить шаблоны индексов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терминал</a:t>
            </a:r>
            <a:endParaRPr lang="en-US" sz="1900" dirty="0"/>
          </a:p>
        </p:txBody>
      </p:sp>
      <p:sp>
        <p:nvSpPr>
          <p:cNvPr id="23" name="plan 6 box"/>
          <p:cNvSpPr/>
          <p:nvPr/>
        </p:nvSpPr>
        <p:spPr>
          <a:xfrm>
            <a:off x="6217920" y="251460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4" name="plan 6 num bg"/>
          <p:cNvSpPr/>
          <p:nvPr/>
        </p:nvSpPr>
        <p:spPr>
          <a:xfrm>
            <a:off x="6400800" y="2670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514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Загрузить журналы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терминал</a:t>
            </a:r>
            <a:endParaRPr lang="en-US" sz="1900" dirty="0"/>
          </a:p>
        </p:txBody>
      </p:sp>
      <p:sp>
        <p:nvSpPr>
          <p:cNvPr id="27" name="plan 7 box"/>
          <p:cNvSpPr/>
          <p:nvPr/>
        </p:nvSpPr>
        <p:spPr>
          <a:xfrm>
            <a:off x="6217920" y="361188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8" name="plan 7 num bg"/>
          <p:cNvSpPr/>
          <p:nvPr/>
        </p:nvSpPr>
        <p:spPr>
          <a:xfrm>
            <a:off x="6400800" y="376732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118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Нормализовать веб-журнал (образец)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терминал</a:t>
            </a:r>
            <a:endParaRPr lang="en-US" sz="1900" dirty="0"/>
          </a:p>
        </p:txBody>
      </p:sp>
      <p:sp>
        <p:nvSpPr>
          <p:cNvPr id="31" name="plan 8 box"/>
          <p:cNvSpPr/>
          <p:nvPr/>
        </p:nvSpPr>
        <p:spPr>
          <a:xfrm>
            <a:off x="6217920" y="4709160"/>
            <a:ext cx="5486400" cy="91440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32" name="plan 8 num bg"/>
          <p:cNvSpPr/>
          <p:nvPr/>
        </p:nvSpPr>
        <p:spPr>
          <a:xfrm>
            <a:off x="6400800" y="4864608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4864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Создать представления данных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браузер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85216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После каждого шага сверяем «Должно получиться» — и только потом идём дальше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4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1. Скачать практику и задать пароли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Скачать файлы практики и придумать пароли, с которыми запустятся Elasticsearch и Kibana.</a:t>
            </a:r>
            <a:endParaRPr lang="en-US" sz="1700" dirty="0"/>
          </a:p>
        </p:txBody>
      </p:sp>
      <p:sp>
        <p:nvSpPr>
          <p:cNvPr id="20" name="code bg"/>
          <p:cNvSpPr/>
          <p:nvPr/>
        </p:nvSpPr>
        <p:spPr>
          <a:xfrm>
            <a:off x="457200" y="2148840"/>
            <a:ext cx="7223760" cy="3364992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/>
        </p:spPr>
      </p:sp>
      <p:sp>
        <p:nvSpPr>
          <p:cNvPr id="21" name="code line 1"/>
          <p:cNvSpPr txBox="1"/>
          <p:nvPr/>
        </p:nvSpPr>
        <p:spPr>
          <a:xfrm>
            <a:off x="640080" y="22402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clone https://github.com/ObeWan99/P1-normalization.git</a:t>
            </a:r>
            <a:endParaRPr lang="en-US" sz="1500" dirty="0"/>
          </a:p>
        </p:txBody>
      </p:sp>
      <p:sp>
        <p:nvSpPr>
          <p:cNvPr id="22" name="note 1"/>
          <p:cNvSpPr txBox="1"/>
          <p:nvPr/>
        </p:nvSpPr>
        <p:spPr>
          <a:xfrm>
            <a:off x="7955280" y="2240280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Скачать репозиторий — появится папка P1-normalization</a:t>
            </a:r>
            <a:endParaRPr lang="en-US" sz="1600" dirty="0"/>
          </a:p>
        </p:txBody>
      </p:sp>
      <p:sp>
        <p:nvSpPr>
          <p:cNvPr id="23" name="code line 2"/>
          <p:cNvSpPr txBox="1"/>
          <p:nvPr/>
        </p:nvSpPr>
        <p:spPr>
          <a:xfrm>
            <a:off x="640080" y="277063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P1-normalization</a:t>
            </a:r>
            <a:endParaRPr lang="en-US" sz="1500" dirty="0"/>
          </a:p>
        </p:txBody>
      </p:sp>
      <p:sp>
        <p:nvSpPr>
          <p:cNvPr id="24" name="note 2"/>
          <p:cNvSpPr txBox="1"/>
          <p:nvPr/>
        </p:nvSpPr>
        <p:spPr>
          <a:xfrm>
            <a:off x="7955280" y="2770632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Перейти в эту папку. Все следующие команды — отсюда</a:t>
            </a:r>
            <a:endParaRPr lang="en-US" sz="1600" dirty="0"/>
          </a:p>
        </p:txBody>
      </p:sp>
      <p:sp>
        <p:nvSpPr>
          <p:cNvPr id="25" name="code line 3"/>
          <p:cNvSpPr txBox="1"/>
          <p:nvPr/>
        </p:nvSpPr>
        <p:spPr>
          <a:xfrm>
            <a:off x="640080" y="330098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.env.example .env</a:t>
            </a:r>
            <a:endParaRPr lang="en-US" sz="1500" dirty="0"/>
          </a:p>
        </p:txBody>
      </p:sp>
      <p:sp>
        <p:nvSpPr>
          <p:cNvPr id="26" name="note 3"/>
          <p:cNvSpPr txBox="1"/>
          <p:nvPr/>
        </p:nvSpPr>
        <p:spPr>
          <a:xfrm>
            <a:off x="7955280" y="3300984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Скопировать образец файла паролей в .env</a:t>
            </a:r>
            <a:endParaRPr lang="en-US" sz="1600" dirty="0"/>
          </a:p>
        </p:txBody>
      </p:sp>
      <p:sp>
        <p:nvSpPr>
          <p:cNvPr id="27" name="code line 4"/>
          <p:cNvSpPr txBox="1"/>
          <p:nvPr/>
        </p:nvSpPr>
        <p:spPr>
          <a:xfrm>
            <a:off x="640080" y="383133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 -hex 16</a:t>
            </a:r>
            <a:endParaRPr lang="en-US" sz="1500" dirty="0"/>
          </a:p>
        </p:txBody>
      </p:sp>
      <p:sp>
        <p:nvSpPr>
          <p:cNvPr id="28" name="note 4"/>
          <p:cNvSpPr txBox="1"/>
          <p:nvPr/>
        </p:nvSpPr>
        <p:spPr>
          <a:xfrm>
            <a:off x="7955280" y="3831336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Случайная строка из 32 символов — скопировать: ключ шифрования</a:t>
            </a:r>
            <a:endParaRPr lang="en-US" sz="1600" dirty="0"/>
          </a:p>
        </p:txBody>
      </p:sp>
      <p:sp>
        <p:nvSpPr>
          <p:cNvPr id="29" name="code line 5"/>
          <p:cNvSpPr txBox="1"/>
          <p:nvPr/>
        </p:nvSpPr>
        <p:spPr>
          <a:xfrm>
            <a:off x="640080" y="436168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.env</a:t>
            </a:r>
            <a:endParaRPr lang="en-US" sz="1500" dirty="0"/>
          </a:p>
        </p:txBody>
      </p:sp>
      <p:sp>
        <p:nvSpPr>
          <p:cNvPr id="30" name="note 5"/>
          <p:cNvSpPr txBox="1"/>
          <p:nvPr/>
        </p:nvSpPr>
        <p:spPr>
          <a:xfrm>
            <a:off x="7955280" y="4361688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Открыть .env и вписать пароли (следующий слайд)</a:t>
            </a:r>
            <a:endParaRPr lang="en-US" sz="1600" dirty="0"/>
          </a:p>
        </p:txBody>
      </p:sp>
      <p:sp>
        <p:nvSpPr>
          <p:cNvPr id="31" name="code line 6"/>
          <p:cNvSpPr txBox="1"/>
          <p:nvPr/>
        </p:nvSpPr>
        <p:spPr>
          <a:xfrm>
            <a:off x="640080" y="489204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.env</a:t>
            </a:r>
            <a:endParaRPr lang="en-US" sz="1500" dirty="0"/>
          </a:p>
        </p:txBody>
      </p:sp>
      <p:sp>
        <p:nvSpPr>
          <p:cNvPr id="32" name="note 6"/>
          <p:cNvSpPr txBox="1"/>
          <p:nvPr/>
        </p:nvSpPr>
        <p:spPr>
          <a:xfrm>
            <a:off x="7955280" y="4892040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Прочитать .env: пароли станут переменными терминала</a:t>
            </a:r>
            <a:endParaRPr lang="en-US" sz="1600" dirty="0"/>
          </a:p>
        </p:txBody>
      </p:sp>
      <p:sp>
        <p:nvSpPr>
          <p:cNvPr id="33" name="info box"/>
          <p:cNvSpPr/>
          <p:nvPr/>
        </p:nvSpPr>
        <p:spPr>
          <a:xfrm>
            <a:off x="457200" y="5669280"/>
            <a:ext cx="11277295" cy="594360"/>
          </a:xfrm>
          <a:prstGeom prst="roundRect">
            <a:avLst>
              <a:gd name="adj" fmla="val 15385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34" name="info circle"/>
          <p:cNvSpPr/>
          <p:nvPr/>
        </p:nvSpPr>
        <p:spPr>
          <a:xfrm>
            <a:off x="640080" y="57378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info icon" descr="in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847588"/>
            <a:ext cx="237744" cy="237744"/>
          </a:xfrm>
          <a:prstGeom prst="rect">
            <a:avLst/>
          </a:prstGeom>
        </p:spPr>
      </p:pic>
      <p:sp>
        <p:nvSpPr>
          <p:cNvPr id="36" name="info text"/>
          <p:cNvSpPr txBox="1"/>
          <p:nvPr/>
        </p:nvSpPr>
        <p:spPr>
          <a:xfrm>
            <a:off x="1280160" y="566928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.env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повторять в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каждом новом окне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терминала, иначе curl не узнает пароль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4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1. Что вписать в .env</a:t>
            </a:r>
            <a:endParaRPr lang="en-US" sz="3400" dirty="0"/>
          </a:p>
        </p:txBody>
      </p:sp>
      <p:sp>
        <p:nvSpPr>
          <p:cNvPr id="19" name="env file bg"/>
          <p:cNvSpPr/>
          <p:nvPr/>
        </p:nvSpPr>
        <p:spPr>
          <a:xfrm>
            <a:off x="457200" y="1691640"/>
            <a:ext cx="60350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20" name="env file"/>
          <p:cNvSpPr txBox="1"/>
          <p:nvPr/>
        </p:nvSpPr>
        <p:spPr>
          <a:xfrm>
            <a:off x="640080" y="1801368"/>
            <a:ext cx="56692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nano .env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ELASTIC_PASSWORD=Elastic2026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KIBANA_PASSWORD=Kibana2026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ENCRYPTION_KEY=&lt;строка из openssl&gt;</a:t>
            </a:r>
            <a:endParaRPr lang="en-US" sz="1700" dirty="0"/>
          </a:p>
        </p:txBody>
      </p:sp>
      <p:sp>
        <p:nvSpPr>
          <p:cNvPr id="21" name="ELASTIC_PASSWORD card"/>
          <p:cNvSpPr/>
          <p:nvPr/>
        </p:nvSpPr>
        <p:spPr>
          <a:xfrm>
            <a:off x="6766560" y="1691640"/>
            <a:ext cx="4965192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2" name="ELASTIC_PASSWORD"/>
          <p:cNvSpPr txBox="1"/>
          <p:nvPr/>
        </p:nvSpPr>
        <p:spPr>
          <a:xfrm>
            <a:off x="6949440" y="16916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ELASTIC_PASSWORD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пароль пользователя elastic — с ним вы входите в Kibana</a:t>
            </a:r>
            <a:endParaRPr lang="en-US" sz="1500" dirty="0"/>
          </a:p>
        </p:txBody>
      </p:sp>
      <p:sp>
        <p:nvSpPr>
          <p:cNvPr id="23" name="KIBANA_PASSWORD card"/>
          <p:cNvSpPr/>
          <p:nvPr/>
        </p:nvSpPr>
        <p:spPr>
          <a:xfrm>
            <a:off x="6766560" y="2697480"/>
            <a:ext cx="4965192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4" name="KIBANA_PASSWORD"/>
          <p:cNvSpPr txBox="1"/>
          <p:nvPr/>
        </p:nvSpPr>
        <p:spPr>
          <a:xfrm>
            <a:off x="694944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KIBANA_PASSWORD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пароль служебной учётки kibana_system, под которой Kibana подключается к Elasticsearch</a:t>
            </a:r>
            <a:endParaRPr lang="en-US" sz="1500" dirty="0"/>
          </a:p>
        </p:txBody>
      </p:sp>
      <p:sp>
        <p:nvSpPr>
          <p:cNvPr id="25" name="ENCRYPTION_KEY card"/>
          <p:cNvSpPr/>
          <p:nvPr/>
        </p:nvSpPr>
        <p:spPr>
          <a:xfrm>
            <a:off x="6766560" y="3703320"/>
            <a:ext cx="4965192" cy="868680"/>
          </a:xfrm>
          <a:prstGeom prst="roundRect">
            <a:avLst>
              <a:gd name="adj" fmla="val 10526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6" name="ENCRYPTION_KEY"/>
          <p:cNvSpPr txBox="1"/>
          <p:nvPr/>
        </p:nvSpPr>
        <p:spPr>
          <a:xfrm>
            <a:off x="6949440" y="3703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ENCRYPTION_KEY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строка из openssl rand -hex 16 — Kibana шифрует ею свои настройки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9319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Сохранить и выйти из nano:</a:t>
            </a:r>
            <a:endParaRPr lang="en-US" sz="1800" dirty="0"/>
          </a:p>
        </p:txBody>
      </p:sp>
      <p:sp>
        <p:nvSpPr>
          <p:cNvPr id="28" name="key ctrl-o"/>
          <p:cNvSpPr/>
          <p:nvPr/>
        </p:nvSpPr>
        <p:spPr>
          <a:xfrm>
            <a:off x="457200" y="448056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5400" dist="25400" dir="5400000">
              <a:srgbClr val="7A8B94">
                <a:alpha val="35000"/>
              </a:srgbClr>
            </a:outerShdw>
          </a:effectLst>
        </p:spPr>
      </p:sp>
      <p:sp>
        <p:nvSpPr>
          <p:cNvPr id="29" name="key ctrl-o label"/>
          <p:cNvSpPr txBox="1"/>
          <p:nvPr/>
        </p:nvSpPr>
        <p:spPr>
          <a:xfrm>
            <a:off x="457200" y="4480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Ctrl+O</a:t>
            </a:r>
            <a:endParaRPr lang="en-US" sz="1800" dirty="0"/>
          </a:p>
        </p:txBody>
      </p:sp>
      <p:sp>
        <p:nvSpPr>
          <p:cNvPr id="30" name="key enter"/>
          <p:cNvSpPr/>
          <p:nvPr/>
        </p:nvSpPr>
        <p:spPr>
          <a:xfrm>
            <a:off x="2148840" y="4480560"/>
            <a:ext cx="11887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5400" dist="25400" dir="5400000">
              <a:srgbClr val="7A8B94">
                <a:alpha val="35000"/>
              </a:srgbClr>
            </a:outerShdw>
          </a:effectLst>
        </p:spPr>
      </p:sp>
      <p:sp>
        <p:nvSpPr>
          <p:cNvPr id="31" name="key enter label"/>
          <p:cNvSpPr txBox="1"/>
          <p:nvPr/>
        </p:nvSpPr>
        <p:spPr>
          <a:xfrm>
            <a:off x="2148840" y="4480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endParaRPr lang="en-US" sz="1800" dirty="0"/>
          </a:p>
        </p:txBody>
      </p:sp>
      <p:sp>
        <p:nvSpPr>
          <p:cNvPr id="32" name="key ctrl-x"/>
          <p:cNvSpPr/>
          <p:nvPr/>
        </p:nvSpPr>
        <p:spPr>
          <a:xfrm>
            <a:off x="3977640" y="448056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5400" dist="25400" dir="5400000">
              <a:srgbClr val="7A8B94">
                <a:alpha val="35000"/>
              </a:srgbClr>
            </a:outerShdw>
          </a:effectLst>
        </p:spPr>
      </p:sp>
      <p:sp>
        <p:nvSpPr>
          <p:cNvPr id="33" name="key ctrl-x label"/>
          <p:cNvSpPr txBox="1"/>
          <p:nvPr/>
        </p:nvSpPr>
        <p:spPr>
          <a:xfrm>
            <a:off x="3977640" y="4480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Ctrl+X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029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сохранить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977640" y="5029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выйти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828800" y="44805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3337560" y="4480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info box"/>
          <p:cNvSpPr/>
          <p:nvPr/>
        </p:nvSpPr>
        <p:spPr>
          <a:xfrm>
            <a:off x="6766560" y="4800600"/>
            <a:ext cx="4965192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39" name="info circle"/>
          <p:cNvSpPr/>
          <p:nvPr/>
        </p:nvSpPr>
        <p:spPr>
          <a:xfrm>
            <a:off x="6949440" y="52120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0" name="info icon" descr="in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5321808"/>
            <a:ext cx="237744" cy="237744"/>
          </a:xfrm>
          <a:prstGeom prst="rect">
            <a:avLst/>
          </a:prstGeom>
        </p:spPr>
      </p:pic>
      <p:sp>
        <p:nvSpPr>
          <p:cNvPr id="41" name="info text"/>
          <p:cNvSpPr txBox="1"/>
          <p:nvPr/>
        </p:nvSpPr>
        <p:spPr>
          <a:xfrm>
            <a:off x="7589520" y="480060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Пароли —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не короче 6 символов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, латиница и цифры, без пробелов и кавычек. ELASTIC_PASSWORD после запуска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не менять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4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2. Запустить Elasticsearch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Запустить хранилище событий и убедиться, что оно отвечает и пускает по паролю.</a:t>
            </a:r>
            <a:endParaRPr lang="en-US" sz="1700" dirty="0"/>
          </a:p>
        </p:txBody>
      </p:sp>
      <p:sp>
        <p:nvSpPr>
          <p:cNvPr id="20" name="code bg"/>
          <p:cNvSpPr/>
          <p:nvPr/>
        </p:nvSpPr>
        <p:spPr>
          <a:xfrm>
            <a:off x="457200" y="2148840"/>
            <a:ext cx="667512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21" name="code line 1"/>
          <p:cNvSpPr txBox="1"/>
          <p:nvPr/>
        </p:nvSpPr>
        <p:spPr>
          <a:xfrm>
            <a:off x="640080" y="22402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compose up -d elasticsearch</a:t>
            </a:r>
            <a:endParaRPr lang="en-US" sz="1500" dirty="0"/>
          </a:p>
        </p:txBody>
      </p:sp>
      <p:sp>
        <p:nvSpPr>
          <p:cNvPr id="22" name="note 1"/>
          <p:cNvSpPr txBox="1"/>
          <p:nvPr/>
        </p:nvSpPr>
        <p:spPr>
          <a:xfrm>
            <a:off x="7406640" y="2240280"/>
            <a:ext cx="4327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Запустить в фоне только Elasticsearch (первый раз скачает ≈1,6 ГБ)</a:t>
            </a:r>
            <a:endParaRPr lang="en-US" sz="1600" dirty="0"/>
          </a:p>
        </p:txBody>
      </p:sp>
      <p:sp>
        <p:nvSpPr>
          <p:cNvPr id="23" name="code line 2"/>
          <p:cNvSpPr txBox="1"/>
          <p:nvPr/>
        </p:nvSpPr>
        <p:spPr>
          <a:xfrm>
            <a:off x="640080" y="289864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compose ps</a:t>
            </a:r>
            <a:endParaRPr lang="en-US" sz="1500" dirty="0"/>
          </a:p>
        </p:txBody>
      </p:sp>
      <p:sp>
        <p:nvSpPr>
          <p:cNvPr id="24" name="note 2"/>
          <p:cNvSpPr txBox="1"/>
          <p:nvPr/>
        </p:nvSpPr>
        <p:spPr>
          <a:xfrm>
            <a:off x="7406640" y="2898648"/>
            <a:ext cx="4327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Показать состояние. Повторять, пока не будет (healthy) — 1–2 минуты</a:t>
            </a:r>
            <a:endParaRPr lang="en-US" sz="1600" dirty="0"/>
          </a:p>
        </p:txBody>
      </p:sp>
      <p:sp>
        <p:nvSpPr>
          <p:cNvPr id="25" name="code line 3"/>
          <p:cNvSpPr txBox="1"/>
          <p:nvPr/>
        </p:nvSpPr>
        <p:spPr>
          <a:xfrm>
            <a:off x="640080" y="355701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localhost:9200</a:t>
            </a:r>
            <a:endParaRPr lang="en-US" sz="1500" dirty="0"/>
          </a:p>
        </p:txBody>
      </p:sp>
      <p:sp>
        <p:nvSpPr>
          <p:cNvPr id="26" name="note 3"/>
          <p:cNvSpPr txBox="1"/>
          <p:nvPr/>
        </p:nvSpPr>
        <p:spPr>
          <a:xfrm>
            <a:off x="7406640" y="3557016"/>
            <a:ext cx="4327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Спросить Elasticsearch от имени elastic с вашим паролем</a:t>
            </a:r>
            <a:endParaRPr lang="en-US" sz="1600" dirty="0"/>
          </a:p>
        </p:txBody>
      </p:sp>
      <p:sp>
        <p:nvSpPr>
          <p:cNvPr id="27" name="ok box"/>
          <p:cNvSpPr/>
          <p:nvPr/>
        </p:nvSpPr>
        <p:spPr>
          <a:xfrm>
            <a:off x="457200" y="4434840"/>
            <a:ext cx="11277295" cy="685800"/>
          </a:xfrm>
          <a:prstGeom prst="roundRect">
            <a:avLst>
              <a:gd name="adj" fmla="val 13333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8" name="ok circle"/>
          <p:cNvSpPr/>
          <p:nvPr/>
        </p:nvSpPr>
        <p:spPr>
          <a:xfrm>
            <a:off x="640080" y="45491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ok icon" descr="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58868"/>
            <a:ext cx="237744" cy="237744"/>
          </a:xfrm>
          <a:prstGeom prst="rect">
            <a:avLst/>
          </a:prstGeom>
        </p:spPr>
      </p:pic>
      <p:sp>
        <p:nvSpPr>
          <p:cNvPr id="30" name="ok text"/>
          <p:cNvSpPr txBox="1"/>
          <p:nvPr/>
        </p:nvSpPr>
        <p:spPr>
          <a:xfrm>
            <a:off x="1280160" y="44348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Должно получиться: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в столбце STATUS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(healthy)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; curl — ответ с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 : "9.4.8"</a:t>
            </a:r>
            <a:endParaRPr lang="en-US" sz="1700" dirty="0"/>
          </a:p>
        </p:txBody>
      </p:sp>
      <p:sp>
        <p:nvSpPr>
          <p:cNvPr id="31" name="warn box"/>
          <p:cNvSpPr/>
          <p:nvPr/>
        </p:nvSpPr>
        <p:spPr>
          <a:xfrm>
            <a:off x="457200" y="5303520"/>
            <a:ext cx="11277295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2" name="warn circle"/>
          <p:cNvSpPr/>
          <p:nvPr/>
        </p:nvSpPr>
        <p:spPr>
          <a:xfrm>
            <a:off x="640080" y="54635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warn icon" descr="wa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573268"/>
            <a:ext cx="237744" cy="237744"/>
          </a:xfrm>
          <a:prstGeom prst="rect">
            <a:avLst/>
          </a:prstGeom>
        </p:spPr>
      </p:pic>
      <p:sp>
        <p:nvSpPr>
          <p:cNvPr id="34" name="warn text"/>
          <p:cNvSpPr txBox="1"/>
          <p:nvPr/>
        </p:nvSpPr>
        <p:spPr>
          <a:xfrm>
            <a:off x="1280160" y="53035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Пока STATUS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(health: starting)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, curl отвечает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reset by peer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Elasticsearch ещё запускается. Подождать и повторить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4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3. Задать пароль служебной учётке Kibana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Kibana ходит в Elasticsearch не под elastic, а под kibana_system. У этой учётки пока нет пароля.</a:t>
            </a:r>
            <a:endParaRPr lang="en-US" sz="1700" dirty="0"/>
          </a:p>
        </p:txBody>
      </p:sp>
      <p:sp>
        <p:nvSpPr>
          <p:cNvPr id="20" name="you box"/>
          <p:cNvSpPr/>
          <p:nvPr/>
        </p:nvSpPr>
        <p:spPr>
          <a:xfrm>
            <a:off x="457200" y="214884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1" name="you"/>
          <p:cNvSpPr txBox="1"/>
          <p:nvPr/>
        </p:nvSpPr>
        <p:spPr>
          <a:xfrm>
            <a:off x="548640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Вы</a:t>
            </a:r>
            <a:endParaRPr lang="en-US" sz="1700" dirty="0"/>
          </a:p>
        </p:txBody>
      </p:sp>
      <p:sp>
        <p:nvSpPr>
          <p:cNvPr id="22" name="kibana box"/>
          <p:cNvSpPr/>
          <p:nvPr/>
        </p:nvSpPr>
        <p:spPr>
          <a:xfrm>
            <a:off x="457200" y="306324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23" name="kibana"/>
          <p:cNvSpPr txBox="1"/>
          <p:nvPr/>
        </p:nvSpPr>
        <p:spPr>
          <a:xfrm>
            <a:off x="548640" y="3063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Kibana</a:t>
            </a:r>
            <a:endParaRPr lang="en-US" sz="1700" dirty="0"/>
          </a:p>
        </p:txBody>
      </p:sp>
      <p:sp>
        <p:nvSpPr>
          <p:cNvPr id="24" name="es box"/>
          <p:cNvSpPr/>
          <p:nvPr/>
        </p:nvSpPr>
        <p:spPr>
          <a:xfrm>
            <a:off x="6309360" y="2148840"/>
            <a:ext cx="2743200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5" name="es"/>
          <p:cNvSpPr txBox="1"/>
          <p:nvPr/>
        </p:nvSpPr>
        <p:spPr>
          <a:xfrm>
            <a:off x="6400800" y="214884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Elasticsearch</a:t>
            </a:r>
            <a:endParaRPr lang="en-US" sz="1700" dirty="0"/>
          </a:p>
        </p:txBody>
      </p:sp>
      <p:sp>
        <p:nvSpPr>
          <p:cNvPr id="26" name="arrow you-es"/>
          <p:cNvSpPr/>
          <p:nvPr/>
        </p:nvSpPr>
        <p:spPr>
          <a:xfrm>
            <a:off x="2880360" y="2491740"/>
            <a:ext cx="338328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arrow kibana-es"/>
          <p:cNvSpPr/>
          <p:nvPr/>
        </p:nvSpPr>
        <p:spPr>
          <a:xfrm>
            <a:off x="2880360" y="3406140"/>
            <a:ext cx="338328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1089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все права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kibana_system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минимум прав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2148840"/>
            <a:ext cx="24505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Задаём kibana_system пароль из </a:t>
            </a:r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KIBANA_PASSWORD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— тот, что Kibana возьмёт из .env при запуске</a:t>
            </a:r>
            <a:endParaRPr lang="en-US" sz="1500" dirty="0"/>
          </a:p>
        </p:txBody>
      </p:sp>
      <p:sp>
        <p:nvSpPr>
          <p:cNvPr id="31" name="step3 code bg"/>
          <p:cNvSpPr/>
          <p:nvPr/>
        </p:nvSpPr>
        <p:spPr>
          <a:xfrm>
            <a:off x="457200" y="3977640"/>
            <a:ext cx="11277295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32" name="step3 code"/>
          <p:cNvSpPr txBox="1"/>
          <p:nvPr/>
        </p:nvSpPr>
        <p:spPr>
          <a:xfrm>
            <a:off x="640080" y="4087368"/>
            <a:ext cx="1091153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-H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POST localhost:9200/_security/user/kibana_system/_password \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"{\"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password\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":\"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$KIBANA_PASSWORD\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"}"</a:t>
            </a:r>
            <a:endParaRPr lang="en-US" sz="1800" dirty="0"/>
          </a:p>
        </p:txBody>
      </p:sp>
      <p:sp>
        <p:nvSpPr>
          <p:cNvPr id="33" name="ok box"/>
          <p:cNvSpPr/>
          <p:nvPr/>
        </p:nvSpPr>
        <p:spPr>
          <a:xfrm>
            <a:off x="457200" y="5486400"/>
            <a:ext cx="11277295" cy="640080"/>
          </a:xfrm>
          <a:prstGeom prst="roundRect">
            <a:avLst>
              <a:gd name="adj" fmla="val 14286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34" name="ok circle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ok icon" descr="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87568"/>
            <a:ext cx="237744" cy="237744"/>
          </a:xfrm>
          <a:prstGeom prst="rect">
            <a:avLst/>
          </a:prstGeom>
        </p:spPr>
      </p:pic>
      <p:sp>
        <p:nvSpPr>
          <p:cNvPr id="36" name="ok text"/>
          <p:cNvSpPr txBox="1"/>
          <p:nvPr/>
        </p:nvSpPr>
        <p:spPr>
          <a:xfrm>
            <a:off x="1280160" y="548640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Должно получиться: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пустой ответ, значит без ошибок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4. Запустить Kibana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Запустить веб-интерфейс.</a:t>
            </a:r>
            <a:endParaRPr lang="en-US" sz="1700" dirty="0"/>
          </a:p>
        </p:txBody>
      </p:sp>
      <p:sp>
        <p:nvSpPr>
          <p:cNvPr id="20" name="step4 code bg"/>
          <p:cNvSpPr/>
          <p:nvPr/>
        </p:nvSpPr>
        <p:spPr>
          <a:xfrm>
            <a:off x="457200" y="2148840"/>
            <a:ext cx="47548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1" name="step4 code"/>
          <p:cNvSpPr txBox="1"/>
          <p:nvPr/>
        </p:nvSpPr>
        <p:spPr>
          <a:xfrm>
            <a:off x="640080" y="22585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compose up -d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103120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Запустить всё, что описано в docker-compose.yml. Elasticsearch уже работает — его не тронет, добавится Kibana (≈1,6 ГБ при первом запуске)</a:t>
            </a:r>
            <a:endParaRPr lang="en-US" sz="1600" dirty="0"/>
          </a:p>
        </p:txBody>
      </p:sp>
      <p:sp>
        <p:nvSpPr>
          <p:cNvPr id="23" name="flow 1 box"/>
          <p:cNvSpPr/>
          <p:nvPr/>
        </p:nvSpPr>
        <p:spPr>
          <a:xfrm>
            <a:off x="457200" y="3429000"/>
            <a:ext cx="3383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4" name="Подождать 1–2 минуты circle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Подождать 1–2 минуты icon" descr="Подождать 1–2 минут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3948379"/>
            <a:ext cx="332842" cy="33284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417320" y="3429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Подождать 1–2 минуты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Kibana стартует после Elasticsearch</a:t>
            </a:r>
            <a:endParaRPr lang="en-US" sz="1800" dirty="0"/>
          </a:p>
        </p:txBody>
      </p:sp>
      <p:sp>
        <p:nvSpPr>
          <p:cNvPr id="27" name="flow arrow 1"/>
          <p:cNvSpPr/>
          <p:nvPr/>
        </p:nvSpPr>
        <p:spPr>
          <a:xfrm>
            <a:off x="3913632" y="4114800"/>
            <a:ext cx="42062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flow 2 box"/>
          <p:cNvSpPr/>
          <p:nvPr/>
        </p:nvSpPr>
        <p:spPr>
          <a:xfrm>
            <a:off x="4407408" y="3429000"/>
            <a:ext cx="3383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9" name="Открыть в браузере circle"/>
          <p:cNvSpPr/>
          <p:nvPr/>
        </p:nvSpPr>
        <p:spPr>
          <a:xfrm>
            <a:off x="4590288" y="3794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Открыть в браузере icon" descr="Открыть в браузер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907" y="3948379"/>
            <a:ext cx="332842" cy="33284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367528" y="3429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Открыть в браузере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http://localhost:5601</a:t>
            </a:r>
            <a:endParaRPr lang="en-US" sz="1800" dirty="0"/>
          </a:p>
        </p:txBody>
      </p:sp>
      <p:sp>
        <p:nvSpPr>
          <p:cNvPr id="32" name="flow arrow 2"/>
          <p:cNvSpPr/>
          <p:nvPr/>
        </p:nvSpPr>
        <p:spPr>
          <a:xfrm>
            <a:off x="7863840" y="4114800"/>
            <a:ext cx="42062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flow 3 box"/>
          <p:cNvSpPr/>
          <p:nvPr/>
        </p:nvSpPr>
        <p:spPr>
          <a:xfrm>
            <a:off x="8357616" y="3429000"/>
            <a:ext cx="3383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4" name="Войти circle"/>
          <p:cNvSpPr/>
          <p:nvPr/>
        </p:nvSpPr>
        <p:spPr>
          <a:xfrm>
            <a:off x="8540496" y="3794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Войти icon" descr="Войт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15" y="3948379"/>
            <a:ext cx="332842" cy="33284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9317736" y="3429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Войти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логин elastic, пароль — ваш ELASTIC_PASSWORD</a:t>
            </a:r>
            <a:endParaRPr lang="en-US" sz="1800" dirty="0"/>
          </a:p>
        </p:txBody>
      </p:sp>
      <p:sp>
        <p:nvSpPr>
          <p:cNvPr id="37" name="warn box"/>
          <p:cNvSpPr/>
          <p:nvPr/>
        </p:nvSpPr>
        <p:spPr>
          <a:xfrm>
            <a:off x="457200" y="5349240"/>
            <a:ext cx="11277295" cy="685800"/>
          </a:xfrm>
          <a:prstGeom prst="roundRect">
            <a:avLst>
              <a:gd name="adj" fmla="val 13333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8" name="warn circle"/>
          <p:cNvSpPr/>
          <p:nvPr/>
        </p:nvSpPr>
        <p:spPr>
          <a:xfrm>
            <a:off x="640080" y="54635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9" name="warn icon" descr="war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573268"/>
            <a:ext cx="237744" cy="237744"/>
          </a:xfrm>
          <a:prstGeom prst="rect">
            <a:avLst/>
          </a:prstGeom>
        </p:spPr>
      </p:pic>
      <p:sp>
        <p:nvSpPr>
          <p:cNvPr id="40" name="warn text"/>
          <p:cNvSpPr txBox="1"/>
          <p:nvPr/>
        </p:nvSpPr>
        <p:spPr>
          <a:xfrm>
            <a:off x="1280160" y="53492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«Kibana server is not ready yet» — подождать минуту и обновить страницу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5. Загрузить шаблоны индексов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Шаблон заранее говорит Elasticsearch, какого типа будут поля. От типа зависит поиск.</a:t>
            </a:r>
            <a:endParaRPr lang="en-US" sz="1700" dirty="0"/>
          </a:p>
        </p:txBody>
      </p:sp>
      <p:graphicFrame>
        <p:nvGraphicFramePr>
          <p:cNvPr id="11" name="template typ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Поле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Тип из шаблона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Что это даёт при поиске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@timestamp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дата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фильтр по периоду, график по времени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source.ip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IP-адрес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искать целую подсеть: 10.0.0.0/8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user.name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точное значение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фильтр и топ значений по учётке</a:t>
                      </a:r>
                      <a:endParaRPr lang="en-US" sz="15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index note box"/>
          <p:cNvSpPr/>
          <p:nvPr/>
        </p:nvSpPr>
        <p:spPr>
          <a:xfrm>
            <a:off x="7498080" y="2148840"/>
            <a:ext cx="42336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680960" y="214884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Индекс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— как таблица в базе данных.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— шаблон для сырых журналов,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— для нормализованных</a:t>
            </a:r>
            <a:endParaRPr lang="en-US" sz="1600" dirty="0"/>
          </a:p>
        </p:txBody>
      </p:sp>
      <p:sp>
        <p:nvSpPr>
          <p:cNvPr id="23" name="step5 code bg"/>
          <p:cNvSpPr/>
          <p:nvPr/>
        </p:nvSpPr>
        <p:spPr>
          <a:xfrm>
            <a:off x="457200" y="4023360"/>
            <a:ext cx="11277295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24" name="step5 code"/>
          <p:cNvSpPr txBox="1"/>
          <p:nvPr/>
        </p:nvSpPr>
        <p:spPr>
          <a:xfrm>
            <a:off x="640080" y="4133088"/>
            <a:ext cx="1091153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-H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PUT localhost:9200/_index_template/raw -d @setup/raw-template.json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-H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PUT localhost:9200/_index_template/norm -d @setup/norm-template.json</a:t>
            </a:r>
            <a:endParaRPr lang="en-US" sz="1600" dirty="0"/>
          </a:p>
        </p:txBody>
      </p:sp>
      <p:sp>
        <p:nvSpPr>
          <p:cNvPr id="25" name="ok box"/>
          <p:cNvSpPr/>
          <p:nvPr/>
        </p:nvSpPr>
        <p:spPr>
          <a:xfrm>
            <a:off x="457200" y="5669280"/>
            <a:ext cx="11277295" cy="594360"/>
          </a:xfrm>
          <a:prstGeom prst="roundRect">
            <a:avLst>
              <a:gd name="adj" fmla="val 15385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6" name="ok circle"/>
          <p:cNvSpPr/>
          <p:nvPr/>
        </p:nvSpPr>
        <p:spPr>
          <a:xfrm>
            <a:off x="640080" y="57378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ok icon" descr="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847588"/>
            <a:ext cx="237744" cy="237744"/>
          </a:xfrm>
          <a:prstGeom prst="rect">
            <a:avLst/>
          </a:prstGeom>
        </p:spPr>
      </p:pic>
      <p:sp>
        <p:nvSpPr>
          <p:cNvPr id="28" name="ok text"/>
          <p:cNvSpPr txBox="1"/>
          <p:nvPr/>
        </p:nvSpPr>
        <p:spPr>
          <a:xfrm>
            <a:off x="1280160" y="566928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Должно получиться: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{"acknowledged":true}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дважды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6. Загрузить журналы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Положить три журнала в три индекса — массовой загрузкой (Bulk API): тысячи событий одним запросом.</a:t>
            </a:r>
            <a:endParaRPr lang="en-US" sz="1700" dirty="0"/>
          </a:p>
        </p:txBody>
      </p:sp>
      <p:sp>
        <p:nvSpPr>
          <p:cNvPr id="20" name="raw-auth circle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raw-auth icon" descr="raw-au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2234794"/>
            <a:ext cx="285293" cy="285293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4300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raw-auth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 — входы</a:t>
            </a:r>
            <a:endParaRPr lang="en-US" sz="1700" dirty="0"/>
          </a:p>
        </p:txBody>
      </p:sp>
      <p:sp>
        <p:nvSpPr>
          <p:cNvPr id="23" name="raw-web circle"/>
          <p:cNvSpPr/>
          <p:nvPr/>
        </p:nvSpPr>
        <p:spPr>
          <a:xfrm>
            <a:off x="4279392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raw-web icon" descr="raw-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66" y="2234794"/>
            <a:ext cx="285293" cy="285293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965192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raw-web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 — веб-портал</a:t>
            </a:r>
            <a:endParaRPr lang="en-US" sz="1700" dirty="0"/>
          </a:p>
        </p:txBody>
      </p:sp>
      <p:sp>
        <p:nvSpPr>
          <p:cNvPr id="26" name="raw-system circle"/>
          <p:cNvSpPr/>
          <p:nvPr/>
        </p:nvSpPr>
        <p:spPr>
          <a:xfrm>
            <a:off x="8101584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raw-system icon" descr="raw-syst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2234794"/>
            <a:ext cx="285293" cy="285293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787384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raw-system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 — серверы</a:t>
            </a:r>
            <a:endParaRPr lang="en-US" sz="1700" dirty="0"/>
          </a:p>
        </p:txBody>
      </p:sp>
      <p:sp>
        <p:nvSpPr>
          <p:cNvPr id="29" name="step6 code bg"/>
          <p:cNvSpPr/>
          <p:nvPr/>
        </p:nvSpPr>
        <p:spPr>
          <a:xfrm>
            <a:off x="457200" y="2880360"/>
            <a:ext cx="11277295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30" name="step6 code"/>
          <p:cNvSpPr txBox="1"/>
          <p:nvPr/>
        </p:nvSpPr>
        <p:spPr>
          <a:xfrm>
            <a:off x="640080" y="2990088"/>
            <a:ext cx="10911535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in auth web system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-s -u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-H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application/x-ndjson'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POST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"localhost:9200/raw-$j/_bulk?refresh=true"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--data-binary @data/raw-$j.ndjson \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grep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-o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'"errors":[a-z]*'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500" dirty="0"/>
          </a:p>
        </p:txBody>
      </p:sp>
      <p:graphicFrame>
        <p:nvGraphicFramePr>
          <p:cNvPr id="12" name="par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92040"/>
          <a:ext cx="7589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j in auth web system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повторить три раза: $j = auth, web, system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…/raw-$j/_bulk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массовая загрузка в индекс raw-auth, raw-web, raw-system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 grep -o '"errors"…'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ответ огромный — оставить только "errors":false/true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ok box"/>
          <p:cNvSpPr/>
          <p:nvPr/>
        </p:nvSpPr>
        <p:spPr>
          <a:xfrm>
            <a:off x="8321040" y="4892040"/>
            <a:ext cx="3410712" cy="1234440"/>
          </a:xfrm>
          <a:prstGeom prst="roundRect">
            <a:avLst>
              <a:gd name="adj" fmla="val 7407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33" name="ok circle"/>
          <p:cNvSpPr/>
          <p:nvPr/>
        </p:nvSpPr>
        <p:spPr>
          <a:xfrm>
            <a:off x="8503920" y="5280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ok icon" descr="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5390388"/>
            <a:ext cx="237744" cy="237744"/>
          </a:xfrm>
          <a:prstGeom prst="rect">
            <a:avLst/>
          </a:prstGeom>
        </p:spPr>
      </p:pic>
      <p:sp>
        <p:nvSpPr>
          <p:cNvPr id="35" name="ok text"/>
          <p:cNvSpPr txBox="1"/>
          <p:nvPr/>
        </p:nvSpPr>
        <p:spPr>
          <a:xfrm>
            <a:off x="9144000" y="4892040"/>
            <a:ext cx="2404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Должно получиться: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"errors":false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три раза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6. Проверить, сколько событий легло</a:t>
            </a:r>
            <a:endParaRPr lang="en-US" sz="3400" dirty="0"/>
          </a:p>
        </p:txBody>
      </p:sp>
      <p:sp>
        <p:nvSpPr>
          <p:cNvPr id="19" name="step6b code bg"/>
          <p:cNvSpPr/>
          <p:nvPr/>
        </p:nvSpPr>
        <p:spPr>
          <a:xfrm>
            <a:off x="457200" y="1691640"/>
            <a:ext cx="11277295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0" name="step6b code"/>
          <p:cNvSpPr txBox="1"/>
          <p:nvPr/>
        </p:nvSpPr>
        <p:spPr>
          <a:xfrm>
            <a:off x="640080" y="1801368"/>
            <a:ext cx="109115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"localhost:9200/_cat/indices/raw-*?v&amp;h=index,docs.count&amp;s=index"</a:t>
            </a:r>
            <a:endParaRPr lang="en-US" sz="1800" dirty="0"/>
          </a:p>
        </p:txBody>
      </p:sp>
      <p:graphicFrame>
        <p:nvGraphicFramePr>
          <p:cNvPr id="13" name="par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7729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36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_cat/indices/raw-*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список индексов таблицей — только те, чьё имя начинается на raw-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?v&amp;h=index,docs.count&amp;s=index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 — с заголовками, h= — столбцы «имя» и «число событий», s= — сортировать по имени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4069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Должно получиться:</a:t>
            </a:r>
            <a:endParaRPr lang="en-US" sz="1700" dirty="0"/>
          </a:p>
        </p:txBody>
      </p:sp>
      <p:sp>
        <p:nvSpPr>
          <p:cNvPr id="23" name="raw-auth stat box"/>
          <p:cNvSpPr/>
          <p:nvPr/>
        </p:nvSpPr>
        <p:spPr>
          <a:xfrm>
            <a:off x="457200" y="4526280"/>
            <a:ext cx="3611880" cy="1645920"/>
          </a:xfrm>
          <a:prstGeom prst="roundRect">
            <a:avLst>
              <a:gd name="adj" fmla="val 555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4" name="raw-auth stat"/>
          <p:cNvSpPr txBox="1"/>
          <p:nvPr/>
        </p:nvSpPr>
        <p:spPr>
          <a:xfrm>
            <a:off x="457200" y="45720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20 000</a:t>
            </a:r>
            <a:endParaRPr lang="en-US" sz="5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5532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raw-auth</a:t>
            </a:r>
            <a:endParaRPr lang="en-US" sz="1800" dirty="0"/>
          </a:p>
        </p:txBody>
      </p:sp>
      <p:sp>
        <p:nvSpPr>
          <p:cNvPr id="26" name="raw-system stat box"/>
          <p:cNvSpPr/>
          <p:nvPr/>
        </p:nvSpPr>
        <p:spPr>
          <a:xfrm>
            <a:off x="4279392" y="4526280"/>
            <a:ext cx="3611880" cy="1645920"/>
          </a:xfrm>
          <a:prstGeom prst="roundRect">
            <a:avLst>
              <a:gd name="adj" fmla="val 555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7" name="raw-system stat"/>
          <p:cNvSpPr txBox="1"/>
          <p:nvPr/>
        </p:nvSpPr>
        <p:spPr>
          <a:xfrm>
            <a:off x="4279392" y="45720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15 000</a:t>
            </a:r>
            <a:endParaRPr lang="en-US" sz="5400" dirty="0"/>
          </a:p>
        </p:txBody>
      </p:sp>
      <p:sp>
        <p:nvSpPr>
          <p:cNvPr id="28" name="Text 25"/>
          <p:cNvSpPr txBox="1"/>
          <p:nvPr/>
        </p:nvSpPr>
        <p:spPr>
          <a:xfrm>
            <a:off x="4279392" y="5532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raw-system</a:t>
            </a:r>
            <a:endParaRPr lang="en-US" sz="1800" dirty="0"/>
          </a:p>
        </p:txBody>
      </p:sp>
      <p:sp>
        <p:nvSpPr>
          <p:cNvPr id="29" name="raw-web stat box"/>
          <p:cNvSpPr/>
          <p:nvPr/>
        </p:nvSpPr>
        <p:spPr>
          <a:xfrm>
            <a:off x="8101584" y="4526280"/>
            <a:ext cx="3611880" cy="1645920"/>
          </a:xfrm>
          <a:prstGeom prst="roundRect">
            <a:avLst>
              <a:gd name="adj" fmla="val 555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0" name="raw-web stat"/>
          <p:cNvSpPr txBox="1"/>
          <p:nvPr/>
        </p:nvSpPr>
        <p:spPr>
          <a:xfrm>
            <a:off x="8101584" y="45720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15 000</a:t>
            </a:r>
            <a:endParaRPr lang="en-US" sz="5400" dirty="0"/>
          </a:p>
        </p:txBody>
      </p:sp>
      <p:sp>
        <p:nvSpPr>
          <p:cNvPr id="31" name="Text 28"/>
          <p:cNvSpPr txBox="1"/>
          <p:nvPr/>
        </p:nvSpPr>
        <p:spPr>
          <a:xfrm>
            <a:off x="8101584" y="5532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raw-web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 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7. Нормализовать веб-журнал (готовый образец)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Конвейер переименовывает поля по стандарту ECS и приводит время. Для веб-журнала он уже готов.</a:t>
            </a:r>
            <a:endParaRPr lang="en-US" sz="1700" dirty="0"/>
          </a:p>
        </p:txBody>
      </p:sp>
      <p:sp>
        <p:nvSpPr>
          <p:cNvPr id="20" name="raw-web box"/>
          <p:cNvSpPr/>
          <p:nvPr/>
        </p:nvSpPr>
        <p:spPr>
          <a:xfrm>
            <a:off x="457200" y="214884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21" name="raw-web"/>
          <p:cNvSpPr txBox="1"/>
          <p:nvPr/>
        </p:nvSpPr>
        <p:spPr>
          <a:xfrm>
            <a:off x="54864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raw-web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сырой журнал</a:t>
            </a:r>
            <a:endParaRPr lang="en-US" sz="1700" dirty="0"/>
          </a:p>
        </p:txBody>
      </p:sp>
      <p:sp>
        <p:nvSpPr>
          <p:cNvPr id="22" name="pipeline box"/>
          <p:cNvSpPr/>
          <p:nvPr/>
        </p:nvSpPr>
        <p:spPr>
          <a:xfrm>
            <a:off x="4297680" y="214884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23" name="pipeline"/>
          <p:cNvSpPr txBox="1"/>
          <p:nvPr/>
        </p:nvSpPr>
        <p:spPr>
          <a:xfrm>
            <a:off x="4389120" y="2148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конвейер </a:t>
            </a:r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norm-web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source_ip → source.ip, …</a:t>
            </a:r>
            <a:endParaRPr lang="en-US" sz="1700" dirty="0"/>
          </a:p>
        </p:txBody>
      </p:sp>
      <p:sp>
        <p:nvSpPr>
          <p:cNvPr id="24" name="norm-web box"/>
          <p:cNvSpPr/>
          <p:nvPr/>
        </p:nvSpPr>
        <p:spPr>
          <a:xfrm>
            <a:off x="9418320" y="2148840"/>
            <a:ext cx="2313432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5" name="norm-web"/>
          <p:cNvSpPr txBox="1"/>
          <p:nvPr/>
        </p:nvSpPr>
        <p:spPr>
          <a:xfrm>
            <a:off x="9509760" y="214884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norm-web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поля по ECS</a:t>
            </a:r>
            <a:endParaRPr lang="en-US" sz="1700" dirty="0"/>
          </a:p>
        </p:txBody>
      </p:sp>
      <p:sp>
        <p:nvSpPr>
          <p:cNvPr id="26" name="arrow raw-pipeline"/>
          <p:cNvSpPr/>
          <p:nvPr/>
        </p:nvSpPr>
        <p:spPr>
          <a:xfrm>
            <a:off x="3246120" y="2606040"/>
            <a:ext cx="100584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arrow pipeline-norm"/>
          <p:cNvSpPr/>
          <p:nvPr/>
        </p:nvSpPr>
        <p:spPr>
          <a:xfrm>
            <a:off x="7909560" y="2606040"/>
            <a:ext cx="146304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2004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_reindex</a:t>
            </a:r>
            <a:endParaRPr lang="en-US" sz="1300" dirty="0"/>
          </a:p>
        </p:txBody>
      </p:sp>
      <p:sp>
        <p:nvSpPr>
          <p:cNvPr id="29" name="step7 code bg"/>
          <p:cNvSpPr/>
          <p:nvPr/>
        </p:nvSpPr>
        <p:spPr>
          <a:xfrm>
            <a:off x="457200" y="3337560"/>
            <a:ext cx="11277295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30" name="step7 code"/>
          <p:cNvSpPr txBox="1"/>
          <p:nvPr/>
        </p:nvSpPr>
        <p:spPr>
          <a:xfrm>
            <a:off x="640080" y="3447288"/>
            <a:ext cx="10911535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-H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PUT localhost:9200/_ingest/pipeline/norm-web -d @pipelines/norm-web.json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"elastic:$ELASTIC_PASSWORD"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-H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POST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"localhost:9200/_reindex?refresh=true"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'{"source":{"index":"raw-web"},"dest":{"index":"norm-web","pipeline":"norm-web"}}'</a:t>
            </a:r>
            <a:endParaRPr lang="en-US" sz="1500" dirty="0"/>
          </a:p>
        </p:txBody>
      </p:sp>
      <p:sp>
        <p:nvSpPr>
          <p:cNvPr id="31" name="ok box"/>
          <p:cNvSpPr/>
          <p:nvPr/>
        </p:nvSpPr>
        <p:spPr>
          <a:xfrm>
            <a:off x="457200" y="5394960"/>
            <a:ext cx="11277295" cy="685800"/>
          </a:xfrm>
          <a:prstGeom prst="roundRect">
            <a:avLst>
              <a:gd name="adj" fmla="val 13333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32" name="ok circle"/>
          <p:cNvSpPr/>
          <p:nvPr/>
        </p:nvSpPr>
        <p:spPr>
          <a:xfrm>
            <a:off x="640080" y="55092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ok icon" descr="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18988"/>
            <a:ext cx="237744" cy="237744"/>
          </a:xfrm>
          <a:prstGeom prst="rect">
            <a:avLst/>
          </a:prstGeom>
        </p:spPr>
      </p:pic>
      <p:sp>
        <p:nvSpPr>
          <p:cNvPr id="34" name="ok text"/>
          <p:cNvSpPr txBox="1"/>
          <p:nvPr/>
        </p:nvSpPr>
        <p:spPr>
          <a:xfrm>
            <a:off x="1280160" y="539496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Должно получиться: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первая команда —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{"acknowledged":true}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; вторая —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"created":15000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и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"failures":[]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8. Представления данных в Kibana</a:t>
            </a:r>
            <a:endParaRPr lang="en-US" sz="3400" dirty="0"/>
          </a:p>
        </p:txBody>
      </p:sp>
      <p:sp>
        <p:nvSpPr>
          <p:cNvPr id="19" name="why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Зачем.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Представление данных (Data View) говорит Kibana, из каких индексов брать события.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0116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Дальше — в браузере. Любой раздел Kibana находится через строку поиска вверху страницы.</a:t>
            </a:r>
            <a:endParaRPr lang="en-US" sz="1600" dirty="0"/>
          </a:p>
        </p:txBody>
      </p:sp>
      <p:sp>
        <p:nvSpPr>
          <p:cNvPr id="21" name="click 1 box"/>
          <p:cNvSpPr/>
          <p:nvPr/>
        </p:nvSpPr>
        <p:spPr>
          <a:xfrm>
            <a:off x="457200" y="2651760"/>
            <a:ext cx="228600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/>
        </p:spPr>
      </p:sp>
      <p:sp>
        <p:nvSpPr>
          <p:cNvPr id="22" name="click 1"/>
          <p:cNvSpPr txBox="1"/>
          <p:nvPr/>
        </p:nvSpPr>
        <p:spPr>
          <a:xfrm>
            <a:off x="548640" y="2651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Data Views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265176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24" name="click 2 box"/>
          <p:cNvSpPr/>
          <p:nvPr/>
        </p:nvSpPr>
        <p:spPr>
          <a:xfrm>
            <a:off x="2926080" y="2651760"/>
            <a:ext cx="274320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/>
        </p:spPr>
      </p:sp>
      <p:sp>
        <p:nvSpPr>
          <p:cNvPr id="25" name="click 2"/>
          <p:cNvSpPr txBox="1"/>
          <p:nvPr/>
        </p:nvSpPr>
        <p:spPr>
          <a:xfrm>
            <a:off x="3017520" y="2651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Create data view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265176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27" name="click 3 box"/>
          <p:cNvSpPr/>
          <p:nvPr/>
        </p:nvSpPr>
        <p:spPr>
          <a:xfrm>
            <a:off x="5852160" y="2651760"/>
            <a:ext cx="25603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8" name="click 3"/>
          <p:cNvSpPr txBox="1"/>
          <p:nvPr/>
        </p:nvSpPr>
        <p:spPr>
          <a:xfrm>
            <a:off x="594360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заполнить 3 поля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265176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30" name="click 4 box"/>
          <p:cNvSpPr/>
          <p:nvPr/>
        </p:nvSpPr>
        <p:spPr>
          <a:xfrm>
            <a:off x="8595360" y="2651760"/>
            <a:ext cx="3136392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/>
        </p:spPr>
      </p:sp>
      <p:sp>
        <p:nvSpPr>
          <p:cNvPr id="31" name="click 4"/>
          <p:cNvSpPr txBox="1"/>
          <p:nvPr/>
        </p:nvSpPr>
        <p:spPr>
          <a:xfrm>
            <a:off x="8686800" y="265176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Save data view to Kibana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5204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× 5 раз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по строке таблицы на следующем слайде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1605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Время настраивать не нужно.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Kibana берёт его из файла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kibana/kibana.yml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при запуске:</a:t>
            </a:r>
            <a:endParaRPr lang="en-US" sz="1700" dirty="0"/>
          </a:p>
        </p:txBody>
      </p:sp>
      <p:sp>
        <p:nvSpPr>
          <p:cNvPr id="34" name="time card 1"/>
          <p:cNvSpPr/>
          <p:nvPr/>
        </p:nvSpPr>
        <p:spPr>
          <a:xfrm>
            <a:off x="457200" y="4709160"/>
            <a:ext cx="5541264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5" name="Часовой пояс — UTC circle"/>
          <p:cNvSpPr/>
          <p:nvPr/>
        </p:nvSpPr>
        <p:spPr>
          <a:xfrm>
            <a:off x="640080" y="5029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" name="Часовой пояс — UTC icon" descr="Часовой пояс — U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5182819"/>
            <a:ext cx="332842" cy="332842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463040" y="4709160"/>
            <a:ext cx="4352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Часовой пояс — UTC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журналах время в UTC; иначе Kibana покажет его в поясе браузера, и время не сойдётся с журналами</a:t>
            </a:r>
            <a:endParaRPr lang="en-US" sz="1700" dirty="0"/>
          </a:p>
        </p:txBody>
      </p:sp>
      <p:sp>
        <p:nvSpPr>
          <p:cNvPr id="38" name="time card 2"/>
          <p:cNvSpPr/>
          <p:nvPr/>
        </p:nvSpPr>
        <p:spPr>
          <a:xfrm>
            <a:off x="6190488" y="4709160"/>
            <a:ext cx="5541264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9" name="Период по умолчанию — 10–16 марта 2025 circle"/>
          <p:cNvSpPr/>
          <p:nvPr/>
        </p:nvSpPr>
        <p:spPr>
          <a:xfrm>
            <a:off x="6373368" y="50292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0" name="Период по умолчанию — 10–16 марта 2025 icon" descr="Период по умолчанию — 10–16 марта 20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987" y="5182819"/>
            <a:ext cx="332842" cy="332842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7196328" y="4709160"/>
            <a:ext cx="4352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Период по умолчанию — 10–16 марта 2025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журналы — за эту неделю; иначе Kibana показывает последние 15 минут, и экран пустой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 chip"/>
          <p:cNvSpPr/>
          <p:nvPr/>
        </p:nvSpPr>
        <p:spPr>
          <a:xfrm>
            <a:off x="45720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step 1 label"/>
          <p:cNvSpPr txBox="1"/>
          <p:nvPr/>
        </p:nvSpPr>
        <p:spPr>
          <a:xfrm>
            <a:off x="45720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Пароли</a:t>
            </a:r>
            <a:endParaRPr lang="en-US" sz="1200" dirty="0"/>
          </a:p>
        </p:txBody>
      </p:sp>
      <p:sp>
        <p:nvSpPr>
          <p:cNvPr id="4" name="step 2 chip"/>
          <p:cNvSpPr/>
          <p:nvPr/>
        </p:nvSpPr>
        <p:spPr>
          <a:xfrm>
            <a:off x="1878292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tep 2 label"/>
          <p:cNvSpPr txBox="1"/>
          <p:nvPr/>
        </p:nvSpPr>
        <p:spPr>
          <a:xfrm>
            <a:off x="1878292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Elasticsearch</a:t>
            </a:r>
            <a:endParaRPr lang="en-US" sz="1200" dirty="0"/>
          </a:p>
        </p:txBody>
      </p:sp>
      <p:sp>
        <p:nvSpPr>
          <p:cNvPr id="6" name="step 3 chip"/>
          <p:cNvSpPr/>
          <p:nvPr/>
        </p:nvSpPr>
        <p:spPr>
          <a:xfrm>
            <a:off x="3299384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7" name="step 3 label"/>
          <p:cNvSpPr txBox="1"/>
          <p:nvPr/>
        </p:nvSpPr>
        <p:spPr>
          <a:xfrm>
            <a:off x="3299384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kibana_system</a:t>
            </a:r>
            <a:endParaRPr lang="en-US" sz="1200" dirty="0"/>
          </a:p>
        </p:txBody>
      </p:sp>
      <p:sp>
        <p:nvSpPr>
          <p:cNvPr id="8" name="step 4 chip"/>
          <p:cNvSpPr/>
          <p:nvPr/>
        </p:nvSpPr>
        <p:spPr>
          <a:xfrm>
            <a:off x="4720476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9" name="step 4 label"/>
          <p:cNvSpPr txBox="1"/>
          <p:nvPr/>
        </p:nvSpPr>
        <p:spPr>
          <a:xfrm>
            <a:off x="4720476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Kibana</a:t>
            </a:r>
            <a:endParaRPr lang="en-US" sz="1200" dirty="0"/>
          </a:p>
        </p:txBody>
      </p:sp>
      <p:sp>
        <p:nvSpPr>
          <p:cNvPr id="10" name="step 5 chip"/>
          <p:cNvSpPr/>
          <p:nvPr/>
        </p:nvSpPr>
        <p:spPr>
          <a:xfrm>
            <a:off x="6141568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1" name="step 5 label"/>
          <p:cNvSpPr txBox="1"/>
          <p:nvPr/>
        </p:nvSpPr>
        <p:spPr>
          <a:xfrm>
            <a:off x="6141568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Шаблоны</a:t>
            </a:r>
            <a:endParaRPr lang="en-US" sz="1200" dirty="0"/>
          </a:p>
        </p:txBody>
      </p:sp>
      <p:sp>
        <p:nvSpPr>
          <p:cNvPr id="12" name="step 6 chip"/>
          <p:cNvSpPr/>
          <p:nvPr/>
        </p:nvSpPr>
        <p:spPr>
          <a:xfrm>
            <a:off x="7562660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tep 6 label"/>
          <p:cNvSpPr txBox="1"/>
          <p:nvPr/>
        </p:nvSpPr>
        <p:spPr>
          <a:xfrm>
            <a:off x="7562660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Журналы</a:t>
            </a:r>
            <a:endParaRPr lang="en-US" sz="1200" dirty="0"/>
          </a:p>
        </p:txBody>
      </p:sp>
      <p:sp>
        <p:nvSpPr>
          <p:cNvPr id="14" name="step 7 chip"/>
          <p:cNvSpPr/>
          <p:nvPr/>
        </p:nvSpPr>
        <p:spPr>
          <a:xfrm>
            <a:off x="8983751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5" name="step 7 label"/>
          <p:cNvSpPr txBox="1"/>
          <p:nvPr/>
        </p:nvSpPr>
        <p:spPr>
          <a:xfrm>
            <a:off x="8983751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</a:t>
            </a:r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Конвейер</a:t>
            </a:r>
            <a:endParaRPr lang="en-US" sz="1200" dirty="0"/>
          </a:p>
        </p:txBody>
      </p:sp>
      <p:sp>
        <p:nvSpPr>
          <p:cNvPr id="16" name="step 8 chip"/>
          <p:cNvSpPr/>
          <p:nvPr/>
        </p:nvSpPr>
        <p:spPr>
          <a:xfrm>
            <a:off x="10404843" y="292608"/>
            <a:ext cx="13296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step 8 label"/>
          <p:cNvSpPr txBox="1"/>
          <p:nvPr/>
        </p:nvSpPr>
        <p:spPr>
          <a:xfrm>
            <a:off x="10404843" y="292608"/>
            <a:ext cx="1329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  </a:t>
            </a:r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Views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Шаг 8. Пять представлений данных</a:t>
            </a:r>
            <a:endParaRPr lang="en-US" sz="3400" dirty="0"/>
          </a:p>
        </p:txBody>
      </p:sp>
      <p:graphicFrame>
        <p:nvGraphicFramePr>
          <p:cNvPr id="16" name="data view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56052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pattern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field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Сырые журналы (raw-*)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raw-*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--- I don't want to use the time filter ---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Журнал входов (raw-auth)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raw-auth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то же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Журнал веб-портала (raw-web)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raw-web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то же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Журнал серверов (raw-system)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raw-system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то же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Нормализованные журналы (norm-*)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norm-*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@timestamp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2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название в списке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50468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pattern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какие индексы (* — «любые символы»)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5888736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field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поле времени для фильтра по датам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Проверка: события видны в Discover</a:t>
            </a:r>
            <a:endParaRPr lang="en-US" sz="3600" dirty="0"/>
          </a:p>
        </p:txBody>
      </p:sp>
      <p:sp>
        <p:nvSpPr>
          <p:cNvPr id="3" name="check click 1 box"/>
          <p:cNvSpPr/>
          <p:nvPr/>
        </p:nvSpPr>
        <p:spPr>
          <a:xfrm>
            <a:off x="457200" y="14173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4" name="check click 1"/>
          <p:cNvSpPr txBox="1"/>
          <p:nvPr/>
        </p:nvSpPr>
        <p:spPr>
          <a:xfrm>
            <a:off x="54864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Discover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1732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6" name="check click 2 box"/>
          <p:cNvSpPr/>
          <p:nvPr/>
        </p:nvSpPr>
        <p:spPr>
          <a:xfrm>
            <a:off x="2788920" y="1417320"/>
            <a:ext cx="32918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7" name="check click 2"/>
          <p:cNvSpPr txBox="1"/>
          <p:nvPr/>
        </p:nvSpPr>
        <p:spPr>
          <a:xfrm>
            <a:off x="288036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 view слева вверху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41732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›</a:t>
            </a:r>
            <a:endParaRPr lang="en-US" sz="2400" dirty="0"/>
          </a:p>
        </p:txBody>
      </p:sp>
      <p:sp>
        <p:nvSpPr>
          <p:cNvPr id="9" name="check click 3 box"/>
          <p:cNvSpPr/>
          <p:nvPr/>
        </p:nvSpPr>
        <p:spPr>
          <a:xfrm>
            <a:off x="6309360" y="141732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0" name="check click 3"/>
          <p:cNvSpPr txBox="1"/>
          <p:nvPr/>
        </p:nvSpPr>
        <p:spPr>
          <a:xfrm>
            <a:off x="640080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выбрать своё представление</a:t>
            </a:r>
            <a:endParaRPr lang="en-US" sz="1700" dirty="0"/>
          </a:p>
        </p:txBody>
      </p:sp>
      <p:sp>
        <p:nvSpPr>
          <p:cNvPr id="11" name="warn box"/>
          <p:cNvSpPr/>
          <p:nvPr/>
        </p:nvSpPr>
        <p:spPr>
          <a:xfrm>
            <a:off x="457200" y="2423160"/>
            <a:ext cx="11277295" cy="640080"/>
          </a:xfrm>
          <a:prstGeom prst="roundRect">
            <a:avLst>
              <a:gd name="adj" fmla="val 14286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12" name="warn circle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warn icon" descr="wa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24328"/>
            <a:ext cx="237744" cy="237744"/>
          </a:xfrm>
          <a:prstGeom prst="rect">
            <a:avLst/>
          </a:prstGeom>
        </p:spPr>
      </p:pic>
      <p:sp>
        <p:nvSpPr>
          <p:cNvPr id="14" name="warn text"/>
          <p:cNvSpPr txBox="1"/>
          <p:nvPr/>
        </p:nvSpPr>
        <p:spPr>
          <a:xfrm>
            <a:off x="1280160" y="242316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По умолчанию выбрано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logs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— оно пустое, так и должно быть</a:t>
            </a:r>
            <a:endParaRPr lang="en-US" sz="1700" dirty="0"/>
          </a:p>
        </p:txBody>
      </p:sp>
      <p:sp>
        <p:nvSpPr>
          <p:cNvPr id="15" name="check stat 1 box"/>
          <p:cNvSpPr/>
          <p:nvPr/>
        </p:nvSpPr>
        <p:spPr>
          <a:xfrm>
            <a:off x="457200" y="3337560"/>
            <a:ext cx="5541264" cy="2651760"/>
          </a:xfrm>
          <a:prstGeom prst="roundRect">
            <a:avLst>
              <a:gd name="adj" fmla="val 3448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3474720"/>
            <a:ext cx="5541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50,000</a:t>
            </a:r>
            <a:endParaRPr lang="en-US" sz="6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800600"/>
            <a:ext cx="5175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Сырые журналы (raw-*)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все три журнала</a:t>
            </a:r>
            <a:endParaRPr lang="en-US" sz="1800" dirty="0"/>
          </a:p>
        </p:txBody>
      </p:sp>
      <p:sp>
        <p:nvSpPr>
          <p:cNvPr id="18" name="check stat 2 box"/>
          <p:cNvSpPr/>
          <p:nvPr/>
        </p:nvSpPr>
        <p:spPr>
          <a:xfrm>
            <a:off x="6190488" y="3337560"/>
            <a:ext cx="5541264" cy="2651760"/>
          </a:xfrm>
          <a:prstGeom prst="roundRect">
            <a:avLst>
              <a:gd name="adj" fmla="val 3448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90488" y="3474720"/>
            <a:ext cx="5541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15,000</a:t>
            </a:r>
            <a:endParaRPr lang="en-US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6373368" y="4800600"/>
            <a:ext cx="5175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Нормализованные журналы (norm-*)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пока только веб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Если что-то не так (1/2)</a:t>
            </a:r>
            <a:endParaRPr lang="en-US" sz="3600" dirty="0"/>
          </a:p>
        </p:txBody>
      </p:sp>
      <p:graphicFrame>
        <p:nvGraphicFramePr>
          <p:cNvPr id="18" name="troub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702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видите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делать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permission denied ... docker.sock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нет прав на Docker: sudo usermod -aG docker $USER, выйти из системы и войти снова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 is already allocated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порт 9200 или 5601 занят другим контейнером: docker ps — посмотреть, docker stop &lt;имя&gt; — остановить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curl: (56) Recv failure: Connection reset by peer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Elasticsearch ещё запускается: docker compose ps — дождаться (healthy), повторить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passwords must be at least [6] characters long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пароль короче 6 символов: в .env удлинить KIBANA_PASSWORD, source .env, повторить шаг 3. ELASTIC_PASSWORD после запуска не менять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 / unable to authenticate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 этом терминале не выполнен source .env; или пароль в .env поменяли после первого запуска — начать заново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Если что-то не так (2/2)</a:t>
            </a:r>
            <a:endParaRPr lang="en-US" sz="3600" dirty="0"/>
          </a:p>
        </p:txBody>
      </p:sp>
      <p:graphicFrame>
        <p:nvGraphicFramePr>
          <p:cNvPr id="19" name="troub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702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видите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делать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вместо ответа — HTML-страница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мешает прокси: unset http_proxy https_proxy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Elasticsearch не healthy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журнал контейнера: docker compose logs elasticsearch --tail 30; свободная память: free -h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Kibana «not ready yet» больше 5 минут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повторить шаг 3, затем docker compose restart kibana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"errors":true на шаге 6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не выполнен шаг 5 или журналы грузят второй раз — начать заново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Discover: 0 событий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период справа вверху: 10–16 марта 2025</a:t>
                      </a:r>
                      <a:endParaRPr lang="en-US" sz="18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Остановить и начать заново</a:t>
            </a:r>
            <a:endParaRPr lang="en-US" sz="3600" dirty="0"/>
          </a:p>
        </p:txBody>
      </p:sp>
      <p:sp>
        <p:nvSpPr>
          <p:cNvPr id="3" name="ctl 1 box"/>
          <p:cNvSpPr/>
          <p:nvPr/>
        </p:nvSpPr>
        <p:spPr>
          <a:xfrm>
            <a:off x="457200" y="1463040"/>
            <a:ext cx="3630168" cy="4023360"/>
          </a:xfrm>
          <a:prstGeom prst="roundRect">
            <a:avLst>
              <a:gd name="adj" fmla="val 2519"/>
            </a:avLst>
          </a:prstGeom>
          <a:solidFill>
            <a:schemeClr val="bg2"/>
          </a:solidFill>
          <a:ln/>
        </p:spPr>
      </p:sp>
      <p:sp>
        <p:nvSpPr>
          <p:cNvPr id="4" name="остановить контейнеры circle"/>
          <p:cNvSpPr/>
          <p:nvPr/>
        </p:nvSpPr>
        <p:spPr>
          <a:xfrm>
            <a:off x="1815084" y="1783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остановить контейнеры icon" descr="остановить контейнер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0025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88036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остановить контейнеры</a:t>
            </a:r>
            <a:endParaRPr lang="en-US" sz="2200" dirty="0"/>
          </a:p>
        </p:txBody>
      </p:sp>
      <p:sp>
        <p:nvSpPr>
          <p:cNvPr id="7" name="ctl 1 code bg"/>
          <p:cNvSpPr/>
          <p:nvPr/>
        </p:nvSpPr>
        <p:spPr>
          <a:xfrm>
            <a:off x="685800" y="3520440"/>
            <a:ext cx="3172968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3520440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compose stop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06240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данные сохранятся</a:t>
            </a:r>
            <a:endParaRPr lang="en-US" sz="1600" dirty="0"/>
          </a:p>
        </p:txBody>
      </p:sp>
      <p:sp>
        <p:nvSpPr>
          <p:cNvPr id="10" name="ctl 2 box"/>
          <p:cNvSpPr/>
          <p:nvPr/>
        </p:nvSpPr>
        <p:spPr>
          <a:xfrm>
            <a:off x="4279392" y="1463040"/>
            <a:ext cx="3630168" cy="4023360"/>
          </a:xfrm>
          <a:prstGeom prst="roundRect">
            <a:avLst>
              <a:gd name="adj" fmla="val 2519"/>
            </a:avLst>
          </a:prstGeom>
          <a:solidFill>
            <a:schemeClr val="bg2"/>
          </a:solidFill>
          <a:ln/>
        </p:spPr>
      </p:sp>
      <p:sp>
        <p:nvSpPr>
          <p:cNvPr id="11" name="запустить снова circle"/>
          <p:cNvSpPr/>
          <p:nvPr/>
        </p:nvSpPr>
        <p:spPr>
          <a:xfrm>
            <a:off x="5637276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запустить снова icon" descr="запустить снов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0025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62272" y="288036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запустить снова</a:t>
            </a:r>
            <a:endParaRPr lang="en-US" sz="2200" dirty="0"/>
          </a:p>
        </p:txBody>
      </p:sp>
      <p:sp>
        <p:nvSpPr>
          <p:cNvPr id="14" name="ctl 2 code bg"/>
          <p:cNvSpPr/>
          <p:nvPr/>
        </p:nvSpPr>
        <p:spPr>
          <a:xfrm>
            <a:off x="4507992" y="3520440"/>
            <a:ext cx="3172968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507992" y="3520440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compose start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07992" y="4206240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после stop или перезагрузки</a:t>
            </a:r>
            <a:endParaRPr lang="en-US" sz="1600" dirty="0"/>
          </a:p>
        </p:txBody>
      </p:sp>
      <p:sp>
        <p:nvSpPr>
          <p:cNvPr id="17" name="ctl 3 box"/>
          <p:cNvSpPr/>
          <p:nvPr/>
        </p:nvSpPr>
        <p:spPr>
          <a:xfrm>
            <a:off x="8101584" y="1463040"/>
            <a:ext cx="3630168" cy="4023360"/>
          </a:xfrm>
          <a:prstGeom prst="roundRect">
            <a:avLst>
              <a:gd name="adj" fmla="val 2519"/>
            </a:avLst>
          </a:prstGeom>
          <a:solidFill>
            <a:schemeClr val="bg2"/>
          </a:solidFill>
          <a:ln/>
        </p:spPr>
      </p:sp>
      <p:sp>
        <p:nvSpPr>
          <p:cNvPr id="18" name="начать заново circle"/>
          <p:cNvSpPr/>
          <p:nvPr/>
        </p:nvSpPr>
        <p:spPr>
          <a:xfrm>
            <a:off x="9459468" y="17830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начать заново icon" descr="начать занов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200253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84464" y="288036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начать заново</a:t>
            </a:r>
            <a:endParaRPr lang="en-US" sz="2200" dirty="0"/>
          </a:p>
        </p:txBody>
      </p:sp>
      <p:sp>
        <p:nvSpPr>
          <p:cNvPr id="21" name="ctl 3 code bg"/>
          <p:cNvSpPr/>
          <p:nvPr/>
        </p:nvSpPr>
        <p:spPr>
          <a:xfrm>
            <a:off x="8330184" y="3520440"/>
            <a:ext cx="3172968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330184" y="3520440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compose down -v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330184" y="4206240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удалить контейнеры, а с -v — и данные. Затем с шага 2 (.env остаётся)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Стенд готов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74904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50 000 сырых событий в raw-* · 15 000 нормализованных в norm-* · дальше — Часть 1: журналы как источники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1 SIEM">
  <a:themeElements>
    <a:clrScheme name="P1 SIEM">
      <a:dk1>
        <a:srgbClr val="1B2228"/>
      </a:dk1>
      <a:lt1>
        <a:srgbClr val="FFFFFF"/>
      </a:lt1>
      <a:dk2>
        <a:srgbClr val="1E2A31"/>
      </a:dk2>
      <a:lt2>
        <a:srgbClr val="EEF3F2"/>
      </a:lt2>
      <a:accent1>
        <a:srgbClr val="1F8A70"/>
      </a:accent1>
      <a:accent2>
        <a:srgbClr val="E39B2D"/>
      </a:accent2>
      <a:accent3>
        <a:srgbClr val="3A7CA5"/>
      </a:accent3>
      <a:accent4>
        <a:srgbClr val="C8442F"/>
      </a:accent4>
      <a:accent5>
        <a:srgbClr val="7A8B94"/>
      </a:accent5>
      <a:accent6>
        <a:srgbClr val="8FD9B6"/>
      </a:accent6>
      <a:hlink>
        <a:srgbClr val="3A7CA5"/>
      </a:hlink>
      <a:folHlink>
        <a:srgbClr val="7A8B94"/>
      </a:folHlink>
    </a:clrScheme>
    <a:fontScheme name="P1 SIE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1. Развёртывание учебной SIEM — шаг за шагом</dc:title>
  <dc:subject>PptxGenJS Presentation</dc:subject>
  <dc:creator>Alexandr Nazimov</dc:creator>
  <cp:lastModifiedBy>Alexandr Nazimov</cp:lastModifiedBy>
  <cp:revision>1</cp:revision>
  <dcterms:created xsi:type="dcterms:W3CDTF">2026-10-28T02:12:13Z</dcterms:created>
  <dcterms:modified xsi:type="dcterms:W3CDTF">2026-10-28T02:12:13Z</dcterms:modified>
</cp:coreProperties>
</file>